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9" r:id="rId4"/>
    <p:sldId id="258"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ulo Brandão" userId="b8cdb8f70d5aa66c" providerId="LiveId" clId="{3C64C0E0-0E70-4E72-B62E-8E2E0F6099AD}"/>
    <pc:docChg chg="undo custSel addSld delSld modSld">
      <pc:chgData name="Saulo Brandão" userId="b8cdb8f70d5aa66c" providerId="LiveId" clId="{3C64C0E0-0E70-4E72-B62E-8E2E0F6099AD}" dt="2021-01-05T19:19:58.923" v="4036" actId="20577"/>
      <pc:docMkLst>
        <pc:docMk/>
      </pc:docMkLst>
      <pc:sldChg chg="modSp new mod">
        <pc:chgData name="Saulo Brandão" userId="b8cdb8f70d5aa66c" providerId="LiveId" clId="{3C64C0E0-0E70-4E72-B62E-8E2E0F6099AD}" dt="2021-01-05T19:18:18.211" v="4015" actId="20577"/>
        <pc:sldMkLst>
          <pc:docMk/>
          <pc:sldMk cId="2205681916" sldId="257"/>
        </pc:sldMkLst>
        <pc:spChg chg="mod">
          <ac:chgData name="Saulo Brandão" userId="b8cdb8f70d5aa66c" providerId="LiveId" clId="{3C64C0E0-0E70-4E72-B62E-8E2E0F6099AD}" dt="2021-01-04T23:54:05.420" v="20" actId="14100"/>
          <ac:spMkLst>
            <pc:docMk/>
            <pc:sldMk cId="2205681916" sldId="257"/>
            <ac:spMk id="2" creationId="{C7003683-E3FA-4304-82CF-7CD711F4811D}"/>
          </ac:spMkLst>
        </pc:spChg>
        <pc:spChg chg="mod">
          <ac:chgData name="Saulo Brandão" userId="b8cdb8f70d5aa66c" providerId="LiveId" clId="{3C64C0E0-0E70-4E72-B62E-8E2E0F6099AD}" dt="2021-01-05T19:18:18.211" v="4015" actId="20577"/>
          <ac:spMkLst>
            <pc:docMk/>
            <pc:sldMk cId="2205681916" sldId="257"/>
            <ac:spMk id="3" creationId="{9861A952-501E-4C43-8602-A12288E8DE89}"/>
          </ac:spMkLst>
        </pc:spChg>
      </pc:sldChg>
      <pc:sldChg chg="modSp new mod">
        <pc:chgData name="Saulo Brandão" userId="b8cdb8f70d5aa66c" providerId="LiveId" clId="{3C64C0E0-0E70-4E72-B62E-8E2E0F6099AD}" dt="2021-01-05T00:56:54.633" v="2030" actId="20577"/>
        <pc:sldMkLst>
          <pc:docMk/>
          <pc:sldMk cId="3245385813" sldId="258"/>
        </pc:sldMkLst>
        <pc:spChg chg="mod">
          <ac:chgData name="Saulo Brandão" userId="b8cdb8f70d5aa66c" providerId="LiveId" clId="{3C64C0E0-0E70-4E72-B62E-8E2E0F6099AD}" dt="2021-01-05T00:41:36.157" v="1567" actId="14100"/>
          <ac:spMkLst>
            <pc:docMk/>
            <pc:sldMk cId="3245385813" sldId="258"/>
            <ac:spMk id="2" creationId="{34F02755-CEFF-4B45-A0E4-50EC68768B7E}"/>
          </ac:spMkLst>
        </pc:spChg>
        <pc:spChg chg="mod">
          <ac:chgData name="Saulo Brandão" userId="b8cdb8f70d5aa66c" providerId="LiveId" clId="{3C64C0E0-0E70-4E72-B62E-8E2E0F6099AD}" dt="2021-01-05T00:56:54.633" v="2030" actId="20577"/>
          <ac:spMkLst>
            <pc:docMk/>
            <pc:sldMk cId="3245385813" sldId="258"/>
            <ac:spMk id="3" creationId="{E118DFA1-D265-49B5-B161-AD3EFC7E7EAD}"/>
          </ac:spMkLst>
        </pc:spChg>
      </pc:sldChg>
      <pc:sldChg chg="new del">
        <pc:chgData name="Saulo Brandão" userId="b8cdb8f70d5aa66c" providerId="LiveId" clId="{3C64C0E0-0E70-4E72-B62E-8E2E0F6099AD}" dt="2021-01-05T00:12:30.644" v="827" actId="2696"/>
        <pc:sldMkLst>
          <pc:docMk/>
          <pc:sldMk cId="1559345815" sldId="259"/>
        </pc:sldMkLst>
      </pc:sldChg>
      <pc:sldChg chg="modSp new mod">
        <pc:chgData name="Saulo Brandão" userId="b8cdb8f70d5aa66c" providerId="LiveId" clId="{3C64C0E0-0E70-4E72-B62E-8E2E0F6099AD}" dt="2021-01-05T19:19:58.923" v="4036" actId="20577"/>
        <pc:sldMkLst>
          <pc:docMk/>
          <pc:sldMk cId="3196590989" sldId="259"/>
        </pc:sldMkLst>
        <pc:spChg chg="mod">
          <ac:chgData name="Saulo Brandão" userId="b8cdb8f70d5aa66c" providerId="LiveId" clId="{3C64C0E0-0E70-4E72-B62E-8E2E0F6099AD}" dt="2021-01-05T00:13:30.060" v="846" actId="14100"/>
          <ac:spMkLst>
            <pc:docMk/>
            <pc:sldMk cId="3196590989" sldId="259"/>
            <ac:spMk id="2" creationId="{2BF54677-1048-4F9A-97A1-14C6FCDC6A3C}"/>
          </ac:spMkLst>
        </pc:spChg>
        <pc:spChg chg="mod">
          <ac:chgData name="Saulo Brandão" userId="b8cdb8f70d5aa66c" providerId="LiveId" clId="{3C64C0E0-0E70-4E72-B62E-8E2E0F6099AD}" dt="2021-01-05T19:19:58.923" v="4036" actId="20577"/>
          <ac:spMkLst>
            <pc:docMk/>
            <pc:sldMk cId="3196590989" sldId="259"/>
            <ac:spMk id="3" creationId="{F0B113BA-2BC1-49AE-9004-94F20BA9A2B7}"/>
          </ac:spMkLst>
        </pc:spChg>
      </pc:sldChg>
      <pc:sldChg chg="modSp new mod">
        <pc:chgData name="Saulo Brandão" userId="b8cdb8f70d5aa66c" providerId="LiveId" clId="{3C64C0E0-0E70-4E72-B62E-8E2E0F6099AD}" dt="2021-01-05T13:29:03.119" v="4009" actId="20577"/>
        <pc:sldMkLst>
          <pc:docMk/>
          <pc:sldMk cId="650872540" sldId="260"/>
        </pc:sldMkLst>
        <pc:spChg chg="mod">
          <ac:chgData name="Saulo Brandão" userId="b8cdb8f70d5aa66c" providerId="LiveId" clId="{3C64C0E0-0E70-4E72-B62E-8E2E0F6099AD}" dt="2021-01-05T01:14:42.008" v="2343" actId="20577"/>
          <ac:spMkLst>
            <pc:docMk/>
            <pc:sldMk cId="650872540" sldId="260"/>
            <ac:spMk id="2" creationId="{EADE9030-A23D-45E6-8075-4A555457A0E7}"/>
          </ac:spMkLst>
        </pc:spChg>
        <pc:spChg chg="mod">
          <ac:chgData name="Saulo Brandão" userId="b8cdb8f70d5aa66c" providerId="LiveId" clId="{3C64C0E0-0E70-4E72-B62E-8E2E0F6099AD}" dt="2021-01-05T13:29:03.119" v="4009" actId="20577"/>
          <ac:spMkLst>
            <pc:docMk/>
            <pc:sldMk cId="650872540" sldId="260"/>
            <ac:spMk id="3" creationId="{0A208982-50BE-453B-815C-64F5E127B031}"/>
          </ac:spMkLst>
        </pc:spChg>
      </pc:sldChg>
      <pc:sldChg chg="modSp new del mod">
        <pc:chgData name="Saulo Brandão" userId="b8cdb8f70d5aa66c" providerId="LiveId" clId="{3C64C0E0-0E70-4E72-B62E-8E2E0F6099AD}" dt="2021-01-05T00:57:37.827" v="2035" actId="2696"/>
        <pc:sldMkLst>
          <pc:docMk/>
          <pc:sldMk cId="1507791868" sldId="260"/>
        </pc:sldMkLst>
        <pc:spChg chg="mod">
          <ac:chgData name="Saulo Brandão" userId="b8cdb8f70d5aa66c" providerId="LiveId" clId="{3C64C0E0-0E70-4E72-B62E-8E2E0F6099AD}" dt="2021-01-05T00:57:25.901" v="2034" actId="20577"/>
          <ac:spMkLst>
            <pc:docMk/>
            <pc:sldMk cId="1507791868" sldId="260"/>
            <ac:spMk id="2" creationId="{083A8331-2AE5-4A57-B5E2-A8DDCFA2335E}"/>
          </ac:spMkLst>
        </pc:spChg>
      </pc:sldChg>
      <pc:sldChg chg="modSp new mod">
        <pc:chgData name="Saulo Brandão" userId="b8cdb8f70d5aa66c" providerId="LiveId" clId="{3C64C0E0-0E70-4E72-B62E-8E2E0F6099AD}" dt="2021-01-05T13:31:44.011" v="4011" actId="207"/>
        <pc:sldMkLst>
          <pc:docMk/>
          <pc:sldMk cId="1466527082" sldId="261"/>
        </pc:sldMkLst>
        <pc:spChg chg="mod">
          <ac:chgData name="Saulo Brandão" userId="b8cdb8f70d5aa66c" providerId="LiveId" clId="{3C64C0E0-0E70-4E72-B62E-8E2E0F6099AD}" dt="2021-01-05T02:10:34.564" v="2686" actId="1076"/>
          <ac:spMkLst>
            <pc:docMk/>
            <pc:sldMk cId="1466527082" sldId="261"/>
            <ac:spMk id="2" creationId="{D17C75EA-869E-4C60-A4D6-A59909CABF30}"/>
          </ac:spMkLst>
        </pc:spChg>
        <pc:spChg chg="mod">
          <ac:chgData name="Saulo Brandão" userId="b8cdb8f70d5aa66c" providerId="LiveId" clId="{3C64C0E0-0E70-4E72-B62E-8E2E0F6099AD}" dt="2021-01-05T13:31:44.011" v="4011" actId="207"/>
          <ac:spMkLst>
            <pc:docMk/>
            <pc:sldMk cId="1466527082" sldId="261"/>
            <ac:spMk id="3" creationId="{3D52728E-21DF-48B5-808A-2C6F8EEFBDE3}"/>
          </ac:spMkLst>
        </pc:spChg>
      </pc:sldChg>
      <pc:sldChg chg="modSp new mod">
        <pc:chgData name="Saulo Brandão" userId="b8cdb8f70d5aa66c" providerId="LiveId" clId="{3C64C0E0-0E70-4E72-B62E-8E2E0F6099AD}" dt="2021-01-05T05:03:06.323" v="4005" actId="20577"/>
        <pc:sldMkLst>
          <pc:docMk/>
          <pc:sldMk cId="895683392" sldId="262"/>
        </pc:sldMkLst>
        <pc:spChg chg="mod">
          <ac:chgData name="Saulo Brandão" userId="b8cdb8f70d5aa66c" providerId="LiveId" clId="{3C64C0E0-0E70-4E72-B62E-8E2E0F6099AD}" dt="2021-01-05T02:21:57.487" v="2818" actId="20577"/>
          <ac:spMkLst>
            <pc:docMk/>
            <pc:sldMk cId="895683392" sldId="262"/>
            <ac:spMk id="2" creationId="{B3CFA711-7C35-418C-839A-3879205151E9}"/>
          </ac:spMkLst>
        </pc:spChg>
        <pc:spChg chg="mod">
          <ac:chgData name="Saulo Brandão" userId="b8cdb8f70d5aa66c" providerId="LiveId" clId="{3C64C0E0-0E70-4E72-B62E-8E2E0F6099AD}" dt="2021-01-05T05:03:06.323" v="4005" actId="20577"/>
          <ac:spMkLst>
            <pc:docMk/>
            <pc:sldMk cId="895683392" sldId="262"/>
            <ac:spMk id="3" creationId="{24FDC05B-5147-42C9-A279-28DD395E0E22}"/>
          </ac:spMkLst>
        </pc:spChg>
      </pc:sldChg>
      <pc:sldChg chg="modSp new mod">
        <pc:chgData name="Saulo Brandão" userId="b8cdb8f70d5aa66c" providerId="LiveId" clId="{3C64C0E0-0E70-4E72-B62E-8E2E0F6099AD}" dt="2021-01-05T02:37:41.765" v="3364" actId="20577"/>
        <pc:sldMkLst>
          <pc:docMk/>
          <pc:sldMk cId="4255432931" sldId="263"/>
        </pc:sldMkLst>
        <pc:spChg chg="mod">
          <ac:chgData name="Saulo Brandão" userId="b8cdb8f70d5aa66c" providerId="LiveId" clId="{3C64C0E0-0E70-4E72-B62E-8E2E0F6099AD}" dt="2021-01-05T02:34:55.440" v="2906" actId="14100"/>
          <ac:spMkLst>
            <pc:docMk/>
            <pc:sldMk cId="4255432931" sldId="263"/>
            <ac:spMk id="2" creationId="{89387B53-4DFF-41F9-BB5F-596AA5979293}"/>
          </ac:spMkLst>
        </pc:spChg>
        <pc:spChg chg="mod">
          <ac:chgData name="Saulo Brandão" userId="b8cdb8f70d5aa66c" providerId="LiveId" clId="{3C64C0E0-0E70-4E72-B62E-8E2E0F6099AD}" dt="2021-01-05T02:37:41.765" v="3364" actId="20577"/>
          <ac:spMkLst>
            <pc:docMk/>
            <pc:sldMk cId="4255432931" sldId="263"/>
            <ac:spMk id="3" creationId="{4D0D6537-19EA-49E1-8365-7F80C1189967}"/>
          </ac:spMkLst>
        </pc:spChg>
      </pc:sldChg>
      <pc:sldChg chg="modSp new mod">
        <pc:chgData name="Saulo Brandão" userId="b8cdb8f70d5aa66c" providerId="LiveId" clId="{3C64C0E0-0E70-4E72-B62E-8E2E0F6099AD}" dt="2021-01-05T03:12:07.689" v="4001" actId="20577"/>
        <pc:sldMkLst>
          <pc:docMk/>
          <pc:sldMk cId="2921153789" sldId="264"/>
        </pc:sldMkLst>
        <pc:spChg chg="mod">
          <ac:chgData name="Saulo Brandão" userId="b8cdb8f70d5aa66c" providerId="LiveId" clId="{3C64C0E0-0E70-4E72-B62E-8E2E0F6099AD}" dt="2021-01-05T02:38:30.695" v="3380" actId="14100"/>
          <ac:spMkLst>
            <pc:docMk/>
            <pc:sldMk cId="2921153789" sldId="264"/>
            <ac:spMk id="2" creationId="{CC943945-CCFF-40D7-8B2B-F48C67693A22}"/>
          </ac:spMkLst>
        </pc:spChg>
        <pc:spChg chg="mod">
          <ac:chgData name="Saulo Brandão" userId="b8cdb8f70d5aa66c" providerId="LiveId" clId="{3C64C0E0-0E70-4E72-B62E-8E2E0F6099AD}" dt="2021-01-05T03:12:07.689" v="4001" actId="20577"/>
          <ac:spMkLst>
            <pc:docMk/>
            <pc:sldMk cId="2921153789" sldId="264"/>
            <ac:spMk id="3" creationId="{D9833A87-3166-499C-ADEE-B3796D47C437}"/>
          </ac:spMkLst>
        </pc:spChg>
      </pc:sldChg>
    </pc:docChg>
  </pc:docChgLst>
  <pc:docChgLst>
    <pc:chgData name="Saulo Brandão" userId="b8cdb8f70d5aa66c" providerId="LiveId" clId="{A1F5F91F-1AC5-4E15-9E80-F6667551E449}"/>
    <pc:docChg chg="modSld">
      <pc:chgData name="Saulo Brandão" userId="b8cdb8f70d5aa66c" providerId="LiveId" clId="{A1F5F91F-1AC5-4E15-9E80-F6667551E449}" dt="2021-05-12T19:46:32.775" v="44" actId="20577"/>
      <pc:docMkLst>
        <pc:docMk/>
      </pc:docMkLst>
      <pc:sldChg chg="modSp mod">
        <pc:chgData name="Saulo Brandão" userId="b8cdb8f70d5aa66c" providerId="LiveId" clId="{A1F5F91F-1AC5-4E15-9E80-F6667551E449}" dt="2021-05-12T03:09:27.321" v="3" actId="20577"/>
        <pc:sldMkLst>
          <pc:docMk/>
          <pc:sldMk cId="2205681916" sldId="257"/>
        </pc:sldMkLst>
        <pc:spChg chg="mod">
          <ac:chgData name="Saulo Brandão" userId="b8cdb8f70d5aa66c" providerId="LiveId" clId="{A1F5F91F-1AC5-4E15-9E80-F6667551E449}" dt="2021-05-12T03:09:27.321" v="3" actId="20577"/>
          <ac:spMkLst>
            <pc:docMk/>
            <pc:sldMk cId="2205681916" sldId="257"/>
            <ac:spMk id="3" creationId="{9861A952-501E-4C43-8602-A12288E8DE89}"/>
          </ac:spMkLst>
        </pc:spChg>
      </pc:sldChg>
      <pc:sldChg chg="modSp mod">
        <pc:chgData name="Saulo Brandão" userId="b8cdb8f70d5aa66c" providerId="LiveId" clId="{A1F5F91F-1AC5-4E15-9E80-F6667551E449}" dt="2021-05-12T13:24:50.667" v="16" actId="20577"/>
        <pc:sldMkLst>
          <pc:docMk/>
          <pc:sldMk cId="3245385813" sldId="258"/>
        </pc:sldMkLst>
        <pc:spChg chg="mod">
          <ac:chgData name="Saulo Brandão" userId="b8cdb8f70d5aa66c" providerId="LiveId" clId="{A1F5F91F-1AC5-4E15-9E80-F6667551E449}" dt="2021-05-12T13:24:50.667" v="16" actId="20577"/>
          <ac:spMkLst>
            <pc:docMk/>
            <pc:sldMk cId="3245385813" sldId="258"/>
            <ac:spMk id="3" creationId="{E118DFA1-D265-49B5-B161-AD3EFC7E7EAD}"/>
          </ac:spMkLst>
        </pc:spChg>
      </pc:sldChg>
      <pc:sldChg chg="modSp mod">
        <pc:chgData name="Saulo Brandão" userId="b8cdb8f70d5aa66c" providerId="LiveId" clId="{A1F5F91F-1AC5-4E15-9E80-F6667551E449}" dt="2021-05-12T19:26:22.769" v="40" actId="20577"/>
        <pc:sldMkLst>
          <pc:docMk/>
          <pc:sldMk cId="1466527082" sldId="261"/>
        </pc:sldMkLst>
        <pc:spChg chg="mod">
          <ac:chgData name="Saulo Brandão" userId="b8cdb8f70d5aa66c" providerId="LiveId" clId="{A1F5F91F-1AC5-4E15-9E80-F6667551E449}" dt="2021-05-12T19:26:22.769" v="40" actId="20577"/>
          <ac:spMkLst>
            <pc:docMk/>
            <pc:sldMk cId="1466527082" sldId="261"/>
            <ac:spMk id="3" creationId="{3D52728E-21DF-48B5-808A-2C6F8EEFBDE3}"/>
          </ac:spMkLst>
        </pc:spChg>
      </pc:sldChg>
      <pc:sldChg chg="modSp mod">
        <pc:chgData name="Saulo Brandão" userId="b8cdb8f70d5aa66c" providerId="LiveId" clId="{A1F5F91F-1AC5-4E15-9E80-F6667551E449}" dt="2021-05-12T19:46:32.775" v="44" actId="20577"/>
        <pc:sldMkLst>
          <pc:docMk/>
          <pc:sldMk cId="2921153789" sldId="264"/>
        </pc:sldMkLst>
        <pc:spChg chg="mod">
          <ac:chgData name="Saulo Brandão" userId="b8cdb8f70d5aa66c" providerId="LiveId" clId="{A1F5F91F-1AC5-4E15-9E80-F6667551E449}" dt="2021-05-12T19:46:32.775" v="44" actId="20577"/>
          <ac:spMkLst>
            <pc:docMk/>
            <pc:sldMk cId="2921153789" sldId="264"/>
            <ac:spMk id="3" creationId="{D9833A87-3166-499C-ADEE-B3796D47C43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Slide de Título">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pt-BR"/>
              <a:t>Clique para editar o título Mestre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dirty="0"/>
              <a:pPr/>
              <a:t>3/7/2022</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‹nº›</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Content Placeholder 2"/>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3/7/2022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Cabeçalho da Seção">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pt-BR"/>
              <a:t>Clique para editar o título Mestre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dirty="0"/>
              <a:pPr/>
              <a:t>3/7/2022</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‹nº›</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pt-BR"/>
              <a:t>Clique para editar o título Mestre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dirty="0"/>
              <a:t>3/7/2022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pt-BR"/>
              <a:t>Clique para editar o título Mestre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dirty="0"/>
              <a:t>3/7/2022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dirty="0"/>
              <a:t>3/7/2022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dirty="0"/>
              <a:t>3/7/2022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údo com Legenda">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pt-BR"/>
              <a:t>Clique para editar o título Mestre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3/7/2022</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‹nº›</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m com Legenda">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pt-BR"/>
              <a:t>Clique para editar o título Mestre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pt-BR"/>
              <a:t>Clique no ícone para adicionar uma imagem</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dirty="0"/>
              <a:pPr/>
              <a:t>3/7/2022</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‹nº›</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a:t>Clique para editar o título Mestre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3/7/2022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pt-BR"/>
              <a:t>Clique para editar o título Mestre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dirty="0"/>
              <a:t>3/7/2022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pt-BR"/>
              <a:t>Clique para editar o título Mestre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dirty="0"/>
              <a:pPr/>
              <a:t>3/7/2022</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‹nº›</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C8DCAC-D79B-4DE8-B305-0319F34D8B28}"/>
              </a:ext>
            </a:extLst>
          </p:cNvPr>
          <p:cNvSpPr>
            <a:spLocks noGrp="1"/>
          </p:cNvSpPr>
          <p:nvPr>
            <p:ph type="ctrTitle"/>
          </p:nvPr>
        </p:nvSpPr>
        <p:spPr/>
        <p:txBody>
          <a:bodyPr/>
          <a:lstStyle/>
          <a:p>
            <a:r>
              <a:rPr lang="pt-BR" dirty="0"/>
              <a:t>Conectores lógicos</a:t>
            </a:r>
          </a:p>
        </p:txBody>
      </p:sp>
      <p:sp>
        <p:nvSpPr>
          <p:cNvPr id="3" name="Subtítulo 2">
            <a:extLst>
              <a:ext uri="{FF2B5EF4-FFF2-40B4-BE49-F238E27FC236}">
                <a16:creationId xmlns:a16="http://schemas.microsoft.com/office/drawing/2014/main" id="{94A6A886-51DA-4CAA-A3B5-CD2D7BBCBD52}"/>
              </a:ext>
            </a:extLst>
          </p:cNvPr>
          <p:cNvSpPr>
            <a:spLocks noGrp="1"/>
          </p:cNvSpPr>
          <p:nvPr>
            <p:ph type="subTitle" idx="1"/>
          </p:nvPr>
        </p:nvSpPr>
        <p:spPr/>
        <p:txBody>
          <a:bodyPr/>
          <a:lstStyle/>
          <a:p>
            <a:r>
              <a:rPr lang="pt-BR" dirty="0"/>
              <a:t>ou Marcadores Discursivos</a:t>
            </a:r>
          </a:p>
          <a:p>
            <a:r>
              <a:rPr lang="pt-BR" dirty="0"/>
              <a:t>Prof. Saulo     Aula 1</a:t>
            </a:r>
          </a:p>
        </p:txBody>
      </p:sp>
    </p:spTree>
    <p:extLst>
      <p:ext uri="{BB962C8B-B14F-4D97-AF65-F5344CB8AC3E}">
        <p14:creationId xmlns:p14="http://schemas.microsoft.com/office/powerpoint/2010/main" val="2238704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003683-E3FA-4304-82CF-7CD711F4811D}"/>
              </a:ext>
            </a:extLst>
          </p:cNvPr>
          <p:cNvSpPr>
            <a:spLocks noGrp="1"/>
          </p:cNvSpPr>
          <p:nvPr>
            <p:ph type="title"/>
          </p:nvPr>
        </p:nvSpPr>
        <p:spPr>
          <a:xfrm>
            <a:off x="1371600" y="685800"/>
            <a:ext cx="9601200" cy="742950"/>
          </a:xfrm>
        </p:spPr>
        <p:txBody>
          <a:bodyPr/>
          <a:lstStyle/>
          <a:p>
            <a:pPr algn="ctr"/>
            <a:r>
              <a:rPr lang="pt-BR" dirty="0"/>
              <a:t>Conectores Lógicos</a:t>
            </a:r>
          </a:p>
        </p:txBody>
      </p:sp>
      <p:sp>
        <p:nvSpPr>
          <p:cNvPr id="3" name="Espaço Reservado para Conteúdo 2">
            <a:extLst>
              <a:ext uri="{FF2B5EF4-FFF2-40B4-BE49-F238E27FC236}">
                <a16:creationId xmlns:a16="http://schemas.microsoft.com/office/drawing/2014/main" id="{9861A952-501E-4C43-8602-A12288E8DE89}"/>
              </a:ext>
            </a:extLst>
          </p:cNvPr>
          <p:cNvSpPr>
            <a:spLocks noGrp="1"/>
          </p:cNvSpPr>
          <p:nvPr>
            <p:ph idx="1"/>
          </p:nvPr>
        </p:nvSpPr>
        <p:spPr>
          <a:xfrm>
            <a:off x="1371600" y="1504950"/>
            <a:ext cx="9601200" cy="4362450"/>
          </a:xfrm>
        </p:spPr>
        <p:txBody>
          <a:bodyPr>
            <a:normAutofit/>
          </a:bodyPr>
          <a:lstStyle/>
          <a:p>
            <a:pPr marL="0" indent="0" algn="just">
              <a:buNone/>
            </a:pPr>
            <a:r>
              <a:rPr lang="pt-BR" sz="2800" dirty="0"/>
              <a:t>Conectores Lógicos (CL) ou Marcadores Discursivos (MD) são palavras, ou termos que atuam como ligações entre orações. Os CL ligam as orações e ao mesmo tempo indicam uma disposição entre as orações. Eles são em sua maioria conjunções, mas podem ser também a junção de 2 ou 3 palavras com as mesmas funções de conjunções. Os CL em inglês funcionam da mesma forma que o fazem em português. Na sua maioria, eles são: aditivos, adversativos, causais, temporais, exemplificações, conclusões, ênfases, comparações, alternativas, condições.</a:t>
            </a:r>
          </a:p>
        </p:txBody>
      </p:sp>
    </p:spTree>
    <p:extLst>
      <p:ext uri="{BB962C8B-B14F-4D97-AF65-F5344CB8AC3E}">
        <p14:creationId xmlns:p14="http://schemas.microsoft.com/office/powerpoint/2010/main" val="2205681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F54677-1048-4F9A-97A1-14C6FCDC6A3C}"/>
              </a:ext>
            </a:extLst>
          </p:cNvPr>
          <p:cNvSpPr>
            <a:spLocks noGrp="1"/>
          </p:cNvSpPr>
          <p:nvPr>
            <p:ph type="title"/>
          </p:nvPr>
        </p:nvSpPr>
        <p:spPr>
          <a:xfrm>
            <a:off x="1371600" y="685800"/>
            <a:ext cx="9601200" cy="781050"/>
          </a:xfrm>
        </p:spPr>
        <p:txBody>
          <a:bodyPr>
            <a:normAutofit/>
          </a:bodyPr>
          <a:lstStyle/>
          <a:p>
            <a:r>
              <a:rPr lang="pt-BR" sz="3600" dirty="0"/>
              <a:t>Alguns Exemplos </a:t>
            </a:r>
          </a:p>
        </p:txBody>
      </p:sp>
      <p:sp>
        <p:nvSpPr>
          <p:cNvPr id="3" name="Espaço Reservado para Conteúdo 2">
            <a:extLst>
              <a:ext uri="{FF2B5EF4-FFF2-40B4-BE49-F238E27FC236}">
                <a16:creationId xmlns:a16="http://schemas.microsoft.com/office/drawing/2014/main" id="{F0B113BA-2BC1-49AE-9004-94F20BA9A2B7}"/>
              </a:ext>
            </a:extLst>
          </p:cNvPr>
          <p:cNvSpPr>
            <a:spLocks noGrp="1"/>
          </p:cNvSpPr>
          <p:nvPr>
            <p:ph idx="1"/>
          </p:nvPr>
        </p:nvSpPr>
        <p:spPr>
          <a:xfrm>
            <a:off x="1371600" y="1466850"/>
            <a:ext cx="9601200" cy="4400550"/>
          </a:xfrm>
        </p:spPr>
        <p:txBody>
          <a:bodyPr>
            <a:normAutofit/>
          </a:bodyPr>
          <a:lstStyle/>
          <a:p>
            <a:pPr marL="0" indent="0">
              <a:buNone/>
            </a:pPr>
            <a:r>
              <a:rPr lang="pt-BR" sz="2800" dirty="0"/>
              <a:t>Vejam:</a:t>
            </a:r>
          </a:p>
          <a:p>
            <a:pPr marL="0" indent="0" algn="l">
              <a:buNone/>
            </a:pPr>
            <a:r>
              <a:rPr lang="pt-BR" sz="1800" b="0" i="0" u="none" strike="noStrike" baseline="0" dirty="0">
                <a:solidFill>
                  <a:srgbClr val="000000"/>
                </a:solidFill>
                <a:latin typeface="LMRoman12-Regular-Identity-H"/>
              </a:rPr>
              <a:t>#Tyson found his physics</a:t>
            </a:r>
            <a:r>
              <a:rPr lang="pt-BR" sz="1800" dirty="0">
                <a:solidFill>
                  <a:srgbClr val="0000FF"/>
                </a:solidFill>
                <a:latin typeface="LMRoman12-Regular-Identity-H"/>
              </a:rPr>
              <a:t> </a:t>
            </a:r>
            <a:r>
              <a:rPr lang="en-US" sz="1800" b="0" i="0" u="none" strike="noStrike" baseline="0" dirty="0">
                <a:solidFill>
                  <a:srgbClr val="000000"/>
                </a:solidFill>
                <a:latin typeface="LMRoman12-Regular-Identity-H"/>
              </a:rPr>
              <a:t>courses interesting, </a:t>
            </a:r>
            <a:r>
              <a:rPr lang="en-US" sz="1800" b="1" i="0" u="none" strike="noStrike" baseline="0" dirty="0">
                <a:solidFill>
                  <a:srgbClr val="000000"/>
                </a:solidFill>
                <a:latin typeface="LMRoman12-Regular-Identity-H"/>
              </a:rPr>
              <a:t>BUT</a:t>
            </a:r>
            <a:r>
              <a:rPr lang="en-US" sz="1800" b="0" i="0" u="none" strike="noStrike" baseline="0" dirty="0">
                <a:solidFill>
                  <a:srgbClr val="000000"/>
                </a:solidFill>
                <a:latin typeface="LMRoman12-Regular-Identity-H"/>
              </a:rPr>
              <a:t> he was not so good with mathematics.</a:t>
            </a:r>
          </a:p>
          <a:p>
            <a:pPr marL="0" indent="0" algn="l">
              <a:buNone/>
            </a:pPr>
            <a:r>
              <a:rPr lang="en-US" sz="1800" b="1" dirty="0">
                <a:solidFill>
                  <a:srgbClr val="000000"/>
                </a:solidFill>
                <a:latin typeface="LMRoman12-Regular-Identity-H"/>
              </a:rPr>
              <a:t>But</a:t>
            </a:r>
            <a:r>
              <a:rPr lang="en-US" sz="1800" dirty="0">
                <a:solidFill>
                  <a:srgbClr val="000000"/>
                </a:solidFill>
                <a:latin typeface="LMRoman12-Regular-Identity-H"/>
              </a:rPr>
              <a:t> -&gt; adversativo. Ele ia bem nos cursos de física, </a:t>
            </a:r>
            <a:r>
              <a:rPr lang="en-US" sz="1800" b="1" dirty="0">
                <a:solidFill>
                  <a:srgbClr val="000000"/>
                </a:solidFill>
                <a:latin typeface="LMRoman12-Regular-Identity-H"/>
              </a:rPr>
              <a:t>MAS</a:t>
            </a:r>
            <a:r>
              <a:rPr lang="en-US" sz="1800" dirty="0">
                <a:solidFill>
                  <a:srgbClr val="000000"/>
                </a:solidFill>
                <a:latin typeface="LMRoman12-Regular-Identity-H"/>
              </a:rPr>
              <a:t> não ia bem com matemática.</a:t>
            </a:r>
          </a:p>
          <a:p>
            <a:pPr marL="0" indent="0" algn="l">
              <a:buNone/>
            </a:pPr>
            <a:endParaRPr lang="en-US" sz="1800" dirty="0">
              <a:solidFill>
                <a:srgbClr val="000000"/>
              </a:solidFill>
              <a:latin typeface="LMRoman12-Regular-Identity-H"/>
            </a:endParaRPr>
          </a:p>
          <a:p>
            <a:pPr marL="0" indent="0" algn="l">
              <a:buNone/>
            </a:pPr>
            <a:r>
              <a:rPr lang="en-US" sz="1800" b="0" i="0" u="none" strike="noStrike" baseline="0" dirty="0">
                <a:solidFill>
                  <a:srgbClr val="000000"/>
                </a:solidFill>
                <a:latin typeface="LMRoman12-Regular-Identity-H"/>
              </a:rPr>
              <a:t>#Tyson </a:t>
            </a:r>
            <a:r>
              <a:rPr lang="en-US" sz="1800" b="0" i="0" u="none" strike="noStrike" baseline="0" dirty="0">
                <a:latin typeface="LMRoman12-Regular-Identity-H"/>
              </a:rPr>
              <a:t>spent many hours in the lab designing </a:t>
            </a:r>
            <a:r>
              <a:rPr lang="en-US" sz="1800" b="1" i="0" u="none" strike="noStrike" baseline="0" dirty="0">
                <a:latin typeface="LMRoman12-Regular-Identity-H"/>
              </a:rPr>
              <a:t>AND</a:t>
            </a:r>
            <a:r>
              <a:rPr lang="en-US" sz="1800" b="0" i="0" u="none" strike="noStrike" baseline="0" dirty="0">
                <a:latin typeface="LMRoman12-Regular-Identity-H"/>
              </a:rPr>
              <a:t> using the RP machine to make </a:t>
            </a:r>
            <a:r>
              <a:rPr lang="pt-BR" sz="1800" b="0" i="0" u="none" strike="noStrike" baseline="0" dirty="0">
                <a:latin typeface="LMRoman12-Regular-Identity-H"/>
              </a:rPr>
              <a:t>his designs.</a:t>
            </a:r>
          </a:p>
          <a:p>
            <a:pPr marL="0" indent="0" algn="l">
              <a:buNone/>
            </a:pPr>
            <a:r>
              <a:rPr lang="pt-BR" sz="1800" b="1" dirty="0">
                <a:solidFill>
                  <a:srgbClr val="000000"/>
                </a:solidFill>
                <a:latin typeface="LMRoman12-Regular-Identity-H"/>
              </a:rPr>
              <a:t>And</a:t>
            </a:r>
            <a:r>
              <a:rPr lang="pt-BR" sz="1800" dirty="0">
                <a:solidFill>
                  <a:srgbClr val="000000"/>
                </a:solidFill>
                <a:latin typeface="LMRoman12-Regular-Identity-H"/>
              </a:rPr>
              <a:t> -&gt; aditivo. Ele passava muitas horas no laboratório de desenho </a:t>
            </a:r>
            <a:r>
              <a:rPr lang="pt-BR" sz="1800" b="1" dirty="0">
                <a:solidFill>
                  <a:srgbClr val="000000"/>
                </a:solidFill>
                <a:latin typeface="LMRoman12-Regular-Identity-H"/>
              </a:rPr>
              <a:t>E </a:t>
            </a:r>
            <a:r>
              <a:rPr lang="pt-BR" sz="1800" dirty="0">
                <a:solidFill>
                  <a:srgbClr val="000000"/>
                </a:solidFill>
                <a:latin typeface="LMRoman12-Regular-Identity-H"/>
              </a:rPr>
              <a:t>usando a máquina RP para desenhar.</a:t>
            </a:r>
          </a:p>
          <a:p>
            <a:pPr marL="0" indent="0" algn="l">
              <a:buNone/>
            </a:pPr>
            <a:endParaRPr lang="pt-BR" sz="1800" dirty="0">
              <a:solidFill>
                <a:srgbClr val="000000"/>
              </a:solidFill>
              <a:latin typeface="LMRoman12-Regular-Identity-H"/>
            </a:endParaRPr>
          </a:p>
          <a:p>
            <a:pPr marL="0" indent="0" algn="l">
              <a:buNone/>
            </a:pPr>
            <a:r>
              <a:rPr lang="pt-BR" sz="1800" b="0" i="0" u="none" strike="noStrike" baseline="0" dirty="0">
                <a:solidFill>
                  <a:srgbClr val="000000"/>
                </a:solidFill>
                <a:latin typeface="LMRoman12-Regular-Identity-H"/>
              </a:rPr>
              <a:t>#Tyson </a:t>
            </a:r>
            <a:r>
              <a:rPr lang="en-US" sz="1800" b="0" i="0" u="none" strike="noStrike" baseline="0" dirty="0">
                <a:latin typeface="LMRoman12-Regular-Identity-H"/>
              </a:rPr>
              <a:t>travels out of town </a:t>
            </a:r>
            <a:r>
              <a:rPr lang="en-US" sz="1800" b="1" dirty="0">
                <a:latin typeface="LMRoman12-Regular-Identity-H"/>
              </a:rPr>
              <a:t>OR </a:t>
            </a:r>
            <a:r>
              <a:rPr lang="en-US" sz="1800" b="0" i="0" u="none" strike="noStrike" baseline="0" dirty="0">
                <a:latin typeface="LMRoman12-Regular-Identity-H"/>
              </a:rPr>
              <a:t>the country three times a month.</a:t>
            </a:r>
          </a:p>
          <a:p>
            <a:pPr marL="0" indent="0" algn="l">
              <a:buNone/>
            </a:pPr>
            <a:r>
              <a:rPr lang="en-US" sz="1800" b="1" dirty="0">
                <a:solidFill>
                  <a:srgbClr val="000000"/>
                </a:solidFill>
                <a:latin typeface="LMRoman12-Regular-Identity-H"/>
              </a:rPr>
              <a:t>Or </a:t>
            </a:r>
            <a:r>
              <a:rPr lang="en-US" sz="1800" dirty="0">
                <a:solidFill>
                  <a:srgbClr val="000000"/>
                </a:solidFill>
                <a:latin typeface="LMRoman12-Regular-Identity-H"/>
              </a:rPr>
              <a:t>-&gt; alternativa. Tyson viaja para fora da cidade </a:t>
            </a:r>
            <a:r>
              <a:rPr lang="en-US" sz="1800" b="1" dirty="0">
                <a:solidFill>
                  <a:srgbClr val="000000"/>
                </a:solidFill>
                <a:latin typeface="LMRoman12-Regular-Identity-H"/>
              </a:rPr>
              <a:t>OU</a:t>
            </a:r>
            <a:r>
              <a:rPr lang="en-US" sz="1800" dirty="0">
                <a:solidFill>
                  <a:srgbClr val="000000"/>
                </a:solidFill>
                <a:latin typeface="LMRoman12-Regular-Identity-H"/>
              </a:rPr>
              <a:t> do país três vezes por mês.</a:t>
            </a:r>
            <a:endParaRPr lang="en-US" sz="1800" b="1" i="0" u="none" strike="noStrike" baseline="0" dirty="0">
              <a:solidFill>
                <a:srgbClr val="000000"/>
              </a:solidFill>
              <a:latin typeface="LMRoman12-Regular-Identity-H"/>
            </a:endParaRPr>
          </a:p>
          <a:p>
            <a:pPr marL="0" indent="0" algn="l">
              <a:buNone/>
            </a:pPr>
            <a:endParaRPr lang="pt-BR" sz="2800" dirty="0"/>
          </a:p>
        </p:txBody>
      </p:sp>
    </p:spTree>
    <p:extLst>
      <p:ext uri="{BB962C8B-B14F-4D97-AF65-F5344CB8AC3E}">
        <p14:creationId xmlns:p14="http://schemas.microsoft.com/office/powerpoint/2010/main" val="31965909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F02755-CEFF-4B45-A0E4-50EC68768B7E}"/>
              </a:ext>
            </a:extLst>
          </p:cNvPr>
          <p:cNvSpPr>
            <a:spLocks noGrp="1"/>
          </p:cNvSpPr>
          <p:nvPr>
            <p:ph type="title"/>
          </p:nvPr>
        </p:nvSpPr>
        <p:spPr>
          <a:xfrm>
            <a:off x="1371600" y="685800"/>
            <a:ext cx="9601200" cy="762000"/>
          </a:xfrm>
        </p:spPr>
        <p:txBody>
          <a:bodyPr/>
          <a:lstStyle/>
          <a:p>
            <a:pPr algn="ctr"/>
            <a:r>
              <a:rPr lang="pt-BR" dirty="0"/>
              <a:t>Conectores e seus funcionamentos</a:t>
            </a:r>
          </a:p>
        </p:txBody>
      </p:sp>
      <p:sp>
        <p:nvSpPr>
          <p:cNvPr id="3" name="Espaço Reservado para Conteúdo 2">
            <a:extLst>
              <a:ext uri="{FF2B5EF4-FFF2-40B4-BE49-F238E27FC236}">
                <a16:creationId xmlns:a16="http://schemas.microsoft.com/office/drawing/2014/main" id="{E118DFA1-D265-49B5-B161-AD3EFC7E7EAD}"/>
              </a:ext>
            </a:extLst>
          </p:cNvPr>
          <p:cNvSpPr>
            <a:spLocks noGrp="1"/>
          </p:cNvSpPr>
          <p:nvPr>
            <p:ph idx="1"/>
          </p:nvPr>
        </p:nvSpPr>
        <p:spPr>
          <a:xfrm>
            <a:off x="1371600" y="1619250"/>
            <a:ext cx="9601200" cy="4960454"/>
          </a:xfrm>
        </p:spPr>
        <p:txBody>
          <a:bodyPr>
            <a:normAutofit lnSpcReduction="10000"/>
          </a:bodyPr>
          <a:lstStyle/>
          <a:p>
            <a:pPr marL="0" indent="0">
              <a:buNone/>
            </a:pPr>
            <a:r>
              <a:rPr lang="pt-BR" sz="2800" dirty="0"/>
              <a:t>Vamos centrar nossas atenções neste primeiro momento em 4 tipos de CL: Contraste (ou adversativo), Adição, Alternativo e Condição.</a:t>
            </a:r>
          </a:p>
          <a:p>
            <a:pPr marL="0" indent="0">
              <a:buNone/>
            </a:pPr>
            <a:r>
              <a:rPr lang="pt-BR" sz="2800" dirty="0"/>
              <a:t>Os de </a:t>
            </a:r>
            <a:r>
              <a:rPr lang="pt-BR" sz="2800" b="1" dirty="0">
                <a:solidFill>
                  <a:srgbClr val="FF0000"/>
                </a:solidFill>
              </a:rPr>
              <a:t>contraste</a:t>
            </a:r>
            <a:r>
              <a:rPr lang="pt-BR" sz="2800" dirty="0"/>
              <a:t> mais comuns são: </a:t>
            </a:r>
            <a:r>
              <a:rPr lang="pt-BR" sz="2800" b="1" dirty="0"/>
              <a:t>but, however, although</a:t>
            </a:r>
            <a:r>
              <a:rPr lang="pt-BR" sz="2800" dirty="0"/>
              <a:t>, though, </a:t>
            </a:r>
            <a:r>
              <a:rPr lang="pt-BR" sz="2800" dirty="0" err="1"/>
              <a:t>despite</a:t>
            </a:r>
            <a:r>
              <a:rPr lang="pt-BR" sz="2800" dirty="0"/>
              <a:t>, </a:t>
            </a:r>
            <a:r>
              <a:rPr lang="pt-BR" sz="2800" dirty="0" err="1"/>
              <a:t>yet</a:t>
            </a:r>
            <a:r>
              <a:rPr lang="pt-BR" sz="2800" dirty="0"/>
              <a:t>, still. E expressões como: in spite of, on one hand...on the other hand, in </a:t>
            </a:r>
            <a:r>
              <a:rPr lang="pt-BR" sz="2800" dirty="0" err="1"/>
              <a:t>contrast</a:t>
            </a:r>
            <a:r>
              <a:rPr lang="pt-BR" sz="2800" dirty="0"/>
              <a:t>.</a:t>
            </a:r>
          </a:p>
          <a:p>
            <a:pPr marL="0" indent="0">
              <a:buNone/>
            </a:pPr>
            <a:r>
              <a:rPr lang="pt-BR" sz="2800" dirty="0">
                <a:solidFill>
                  <a:srgbClr val="00B050"/>
                </a:solidFill>
              </a:rPr>
              <a:t>I </a:t>
            </a:r>
            <a:r>
              <a:rPr lang="pt-BR" sz="2800" dirty="0" err="1">
                <a:solidFill>
                  <a:srgbClr val="00B050"/>
                </a:solidFill>
              </a:rPr>
              <a:t>don’t</a:t>
            </a:r>
            <a:r>
              <a:rPr lang="pt-BR" sz="2800" dirty="0">
                <a:solidFill>
                  <a:srgbClr val="00B050"/>
                </a:solidFill>
              </a:rPr>
              <a:t> </a:t>
            </a:r>
            <a:r>
              <a:rPr lang="pt-BR" sz="2800" dirty="0" err="1">
                <a:solidFill>
                  <a:srgbClr val="00B050"/>
                </a:solidFill>
              </a:rPr>
              <a:t>know</a:t>
            </a:r>
            <a:r>
              <a:rPr lang="pt-BR" sz="2800" dirty="0">
                <a:solidFill>
                  <a:srgbClr val="00B050"/>
                </a:solidFill>
              </a:rPr>
              <a:t> what to do </a:t>
            </a:r>
            <a:r>
              <a:rPr lang="pt-BR" sz="2800" b="1" dirty="0">
                <a:solidFill>
                  <a:srgbClr val="FF0000"/>
                </a:solidFill>
              </a:rPr>
              <a:t>on </a:t>
            </a:r>
            <a:r>
              <a:rPr lang="pt-BR" sz="2800" b="1" dirty="0" err="1">
                <a:solidFill>
                  <a:srgbClr val="FF0000"/>
                </a:solidFill>
              </a:rPr>
              <a:t>one</a:t>
            </a:r>
            <a:r>
              <a:rPr lang="pt-BR" sz="2800" b="1" dirty="0">
                <a:solidFill>
                  <a:srgbClr val="FF0000"/>
                </a:solidFill>
              </a:rPr>
              <a:t> </a:t>
            </a:r>
            <a:r>
              <a:rPr lang="pt-BR" sz="2800" b="1" dirty="0" err="1">
                <a:solidFill>
                  <a:srgbClr val="FF0000"/>
                </a:solidFill>
              </a:rPr>
              <a:t>hand</a:t>
            </a:r>
            <a:r>
              <a:rPr lang="pt-BR" sz="2800" b="1" dirty="0">
                <a:solidFill>
                  <a:srgbClr val="FF0000"/>
                </a:solidFill>
              </a:rPr>
              <a:t> </a:t>
            </a:r>
            <a:r>
              <a:rPr lang="pt-BR" sz="2800" dirty="0">
                <a:solidFill>
                  <a:srgbClr val="00B050"/>
                </a:solidFill>
              </a:rPr>
              <a:t>I have a good </a:t>
            </a:r>
            <a:r>
              <a:rPr lang="pt-BR" sz="2800" dirty="0" err="1">
                <a:solidFill>
                  <a:srgbClr val="00B050"/>
                </a:solidFill>
              </a:rPr>
              <a:t>job</a:t>
            </a:r>
            <a:r>
              <a:rPr lang="pt-BR" sz="2800" dirty="0">
                <a:solidFill>
                  <a:srgbClr val="00B050"/>
                </a:solidFill>
              </a:rPr>
              <a:t> </a:t>
            </a:r>
            <a:r>
              <a:rPr lang="pt-BR" sz="2800" b="1" dirty="0">
                <a:solidFill>
                  <a:srgbClr val="FF0000"/>
                </a:solidFill>
              </a:rPr>
              <a:t>on the other </a:t>
            </a:r>
            <a:r>
              <a:rPr lang="pt-BR" sz="2800" b="1" dirty="0" err="1">
                <a:solidFill>
                  <a:srgbClr val="FF0000"/>
                </a:solidFill>
              </a:rPr>
              <a:t>hand</a:t>
            </a:r>
            <a:r>
              <a:rPr lang="pt-BR" sz="2800" dirty="0">
                <a:solidFill>
                  <a:srgbClr val="FF0000"/>
                </a:solidFill>
              </a:rPr>
              <a:t> </a:t>
            </a:r>
            <a:r>
              <a:rPr lang="pt-BR" sz="2800" dirty="0">
                <a:solidFill>
                  <a:srgbClr val="00B050"/>
                </a:solidFill>
              </a:rPr>
              <a:t>Joe made me  a very good </a:t>
            </a:r>
            <a:r>
              <a:rPr lang="pt-BR" sz="2800" dirty="0" err="1">
                <a:solidFill>
                  <a:srgbClr val="00B050"/>
                </a:solidFill>
              </a:rPr>
              <a:t>offer</a:t>
            </a:r>
            <a:r>
              <a:rPr lang="pt-BR" sz="2800" dirty="0">
                <a:solidFill>
                  <a:srgbClr val="00B050"/>
                </a:solidFill>
              </a:rPr>
              <a:t> of a </a:t>
            </a:r>
            <a:r>
              <a:rPr lang="pt-BR" sz="2800" dirty="0" err="1">
                <a:solidFill>
                  <a:srgbClr val="00B050"/>
                </a:solidFill>
              </a:rPr>
              <a:t>job</a:t>
            </a:r>
            <a:r>
              <a:rPr lang="pt-BR" sz="2800" dirty="0">
                <a:solidFill>
                  <a:srgbClr val="00B050"/>
                </a:solidFill>
              </a:rPr>
              <a:t>.</a:t>
            </a:r>
          </a:p>
          <a:p>
            <a:pPr marL="0" indent="0">
              <a:buNone/>
            </a:pPr>
            <a:r>
              <a:rPr lang="pt-BR" sz="2800" dirty="0"/>
              <a:t>Enquanto os de </a:t>
            </a:r>
            <a:r>
              <a:rPr lang="pt-BR" sz="2800" b="1" dirty="0">
                <a:solidFill>
                  <a:srgbClr val="FF0000"/>
                </a:solidFill>
              </a:rPr>
              <a:t>adição </a:t>
            </a:r>
            <a:r>
              <a:rPr lang="pt-BR" sz="2800" dirty="0">
                <a:solidFill>
                  <a:schemeClr val="tx1"/>
                </a:solidFill>
              </a:rPr>
              <a:t>são: </a:t>
            </a:r>
            <a:r>
              <a:rPr lang="pt-BR" sz="2800" b="1" dirty="0">
                <a:solidFill>
                  <a:schemeClr val="tx1"/>
                </a:solidFill>
              </a:rPr>
              <a:t>and, besides, also</a:t>
            </a:r>
            <a:r>
              <a:rPr lang="pt-BR" sz="2800" dirty="0">
                <a:solidFill>
                  <a:schemeClr val="tx1"/>
                </a:solidFill>
              </a:rPr>
              <a:t>, </a:t>
            </a:r>
            <a:r>
              <a:rPr lang="pt-BR" sz="2800" dirty="0" err="1">
                <a:solidFill>
                  <a:schemeClr val="tx1"/>
                </a:solidFill>
              </a:rPr>
              <a:t>futhermore</a:t>
            </a:r>
            <a:r>
              <a:rPr lang="pt-BR" sz="2800" dirty="0">
                <a:solidFill>
                  <a:schemeClr val="tx1"/>
                </a:solidFill>
              </a:rPr>
              <a:t>, moreover, too. E expressões: in addition to, as well, as </a:t>
            </a:r>
            <a:r>
              <a:rPr lang="pt-BR" sz="2800" dirty="0" err="1">
                <a:solidFill>
                  <a:schemeClr val="tx1"/>
                </a:solidFill>
              </a:rPr>
              <a:t>well</a:t>
            </a:r>
            <a:r>
              <a:rPr lang="pt-BR" sz="2800" dirty="0">
                <a:solidFill>
                  <a:schemeClr val="tx1"/>
                </a:solidFill>
              </a:rPr>
              <a:t> as.</a:t>
            </a:r>
          </a:p>
          <a:p>
            <a:pPr marL="0" indent="0">
              <a:buNone/>
            </a:pPr>
            <a:r>
              <a:rPr lang="pt-BR" sz="2800" dirty="0">
                <a:solidFill>
                  <a:schemeClr val="tx1"/>
                </a:solidFill>
              </a:rPr>
              <a:t>...</a:t>
            </a:r>
            <a:endParaRPr lang="pt-BR" sz="2800" dirty="0"/>
          </a:p>
        </p:txBody>
      </p:sp>
    </p:spTree>
    <p:extLst>
      <p:ext uri="{BB962C8B-B14F-4D97-AF65-F5344CB8AC3E}">
        <p14:creationId xmlns:p14="http://schemas.microsoft.com/office/powerpoint/2010/main" val="32453858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DE9030-A23D-45E6-8075-4A555457A0E7}"/>
              </a:ext>
            </a:extLst>
          </p:cNvPr>
          <p:cNvSpPr>
            <a:spLocks noGrp="1"/>
          </p:cNvSpPr>
          <p:nvPr>
            <p:ph type="title"/>
          </p:nvPr>
        </p:nvSpPr>
        <p:spPr>
          <a:xfrm>
            <a:off x="1371600" y="685800"/>
            <a:ext cx="9601200" cy="533400"/>
          </a:xfrm>
        </p:spPr>
        <p:txBody>
          <a:bodyPr>
            <a:normAutofit/>
          </a:bodyPr>
          <a:lstStyle/>
          <a:p>
            <a:r>
              <a:rPr lang="pt-BR" sz="2800" dirty="0"/>
              <a:t>Cont.</a:t>
            </a:r>
          </a:p>
        </p:txBody>
      </p:sp>
      <p:sp>
        <p:nvSpPr>
          <p:cNvPr id="3" name="Espaço Reservado para Conteúdo 2">
            <a:extLst>
              <a:ext uri="{FF2B5EF4-FFF2-40B4-BE49-F238E27FC236}">
                <a16:creationId xmlns:a16="http://schemas.microsoft.com/office/drawing/2014/main" id="{0A208982-50BE-453B-815C-64F5E127B031}"/>
              </a:ext>
            </a:extLst>
          </p:cNvPr>
          <p:cNvSpPr>
            <a:spLocks noGrp="1"/>
          </p:cNvSpPr>
          <p:nvPr>
            <p:ph idx="1"/>
          </p:nvPr>
        </p:nvSpPr>
        <p:spPr>
          <a:xfrm>
            <a:off x="1371600" y="1409700"/>
            <a:ext cx="9601200" cy="4457700"/>
          </a:xfrm>
        </p:spPr>
        <p:txBody>
          <a:bodyPr>
            <a:normAutofit/>
          </a:bodyPr>
          <a:lstStyle/>
          <a:p>
            <a:pPr marL="0" indent="0">
              <a:buNone/>
            </a:pPr>
            <a:r>
              <a:rPr lang="pt-BR" sz="2800" dirty="0"/>
              <a:t>A ideia de </a:t>
            </a:r>
            <a:r>
              <a:rPr lang="pt-BR" sz="2800" b="1" dirty="0">
                <a:solidFill>
                  <a:srgbClr val="FF0000"/>
                </a:solidFill>
              </a:rPr>
              <a:t>alternativa</a:t>
            </a:r>
            <a:r>
              <a:rPr lang="pt-BR" sz="2800" dirty="0"/>
              <a:t> pode ser feita com: </a:t>
            </a:r>
            <a:r>
              <a:rPr lang="pt-BR" sz="2800" b="1" dirty="0"/>
              <a:t>or, else, either</a:t>
            </a:r>
            <a:r>
              <a:rPr lang="pt-BR" sz="2800" dirty="0"/>
              <a:t>, preferentially, conversely e expressões como: in turn, as choice, as an </a:t>
            </a:r>
            <a:r>
              <a:rPr lang="pt-BR" sz="2800" dirty="0" err="1"/>
              <a:t>alternative</a:t>
            </a:r>
            <a:r>
              <a:rPr lang="pt-BR" sz="2800" dirty="0"/>
              <a:t>, </a:t>
            </a:r>
            <a:r>
              <a:rPr lang="pt-BR" sz="2800" dirty="0" err="1"/>
              <a:t>either</a:t>
            </a:r>
            <a:r>
              <a:rPr lang="pt-BR" sz="2800" dirty="0"/>
              <a:t> ... or.</a:t>
            </a:r>
          </a:p>
          <a:p>
            <a:pPr marL="0" indent="0">
              <a:buNone/>
            </a:pPr>
            <a:r>
              <a:rPr lang="pt-BR" sz="2800" b="1" u="sng" dirty="0" err="1">
                <a:solidFill>
                  <a:srgbClr val="FF0000"/>
                </a:solidFill>
              </a:rPr>
              <a:t>Either</a:t>
            </a:r>
            <a:r>
              <a:rPr lang="pt-BR" sz="2800" dirty="0">
                <a:solidFill>
                  <a:srgbClr val="FF0000"/>
                </a:solidFill>
              </a:rPr>
              <a:t> </a:t>
            </a:r>
            <a:r>
              <a:rPr lang="pt-BR" sz="2800" dirty="0">
                <a:solidFill>
                  <a:srgbClr val="00B050"/>
                </a:solidFill>
              </a:rPr>
              <a:t>I </a:t>
            </a:r>
            <a:r>
              <a:rPr lang="pt-BR" sz="2800" dirty="0" err="1">
                <a:solidFill>
                  <a:srgbClr val="00B050"/>
                </a:solidFill>
              </a:rPr>
              <a:t>work</a:t>
            </a:r>
            <a:r>
              <a:rPr lang="pt-BR" sz="2800" dirty="0">
                <a:solidFill>
                  <a:srgbClr val="00B050"/>
                </a:solidFill>
              </a:rPr>
              <a:t> late this </a:t>
            </a:r>
            <a:r>
              <a:rPr lang="pt-BR" sz="2800" dirty="0" err="1">
                <a:solidFill>
                  <a:srgbClr val="00B050"/>
                </a:solidFill>
              </a:rPr>
              <a:t>week</a:t>
            </a:r>
            <a:r>
              <a:rPr lang="pt-BR" sz="2800" dirty="0">
                <a:solidFill>
                  <a:srgbClr val="FF0000"/>
                </a:solidFill>
              </a:rPr>
              <a:t> </a:t>
            </a:r>
            <a:r>
              <a:rPr lang="pt-BR" sz="2800" b="1" u="sng" dirty="0">
                <a:solidFill>
                  <a:srgbClr val="FF0000"/>
                </a:solidFill>
              </a:rPr>
              <a:t>or</a:t>
            </a:r>
            <a:r>
              <a:rPr lang="pt-BR" sz="2800" dirty="0">
                <a:solidFill>
                  <a:srgbClr val="FF0000"/>
                </a:solidFill>
              </a:rPr>
              <a:t> </a:t>
            </a:r>
            <a:r>
              <a:rPr lang="pt-BR" sz="2800" dirty="0">
                <a:solidFill>
                  <a:srgbClr val="00B050"/>
                </a:solidFill>
              </a:rPr>
              <a:t>I </a:t>
            </a:r>
            <a:r>
              <a:rPr lang="pt-BR" sz="2800" dirty="0" err="1">
                <a:solidFill>
                  <a:srgbClr val="00B050"/>
                </a:solidFill>
              </a:rPr>
              <a:t>work</a:t>
            </a:r>
            <a:r>
              <a:rPr lang="pt-BR" sz="2800" dirty="0">
                <a:solidFill>
                  <a:srgbClr val="00B050"/>
                </a:solidFill>
              </a:rPr>
              <a:t> on the weekend.</a:t>
            </a:r>
          </a:p>
          <a:p>
            <a:pPr marL="0" indent="0">
              <a:buNone/>
            </a:pPr>
            <a:endParaRPr lang="pt-BR" sz="2800" dirty="0"/>
          </a:p>
          <a:p>
            <a:pPr marL="0" indent="0">
              <a:buNone/>
            </a:pPr>
            <a:r>
              <a:rPr lang="pt-BR" sz="2800" dirty="0"/>
              <a:t>Os que trazem a ideia de </a:t>
            </a:r>
            <a:r>
              <a:rPr lang="pt-BR" sz="2800" b="1" dirty="0">
                <a:solidFill>
                  <a:srgbClr val="FF0000"/>
                </a:solidFill>
              </a:rPr>
              <a:t>condição</a:t>
            </a:r>
            <a:r>
              <a:rPr lang="pt-BR" sz="2800" dirty="0"/>
              <a:t> são: </a:t>
            </a:r>
            <a:r>
              <a:rPr lang="pt-BR" sz="2800" b="1" dirty="0"/>
              <a:t>if, whether, </a:t>
            </a:r>
            <a:r>
              <a:rPr lang="pt-BR" sz="2800" dirty="0"/>
              <a:t>wherever, whenever e expressões: in case that, supposing that, assuming that.</a:t>
            </a:r>
          </a:p>
        </p:txBody>
      </p:sp>
    </p:spTree>
    <p:extLst>
      <p:ext uri="{BB962C8B-B14F-4D97-AF65-F5344CB8AC3E}">
        <p14:creationId xmlns:p14="http://schemas.microsoft.com/office/powerpoint/2010/main" val="650872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7C75EA-869E-4C60-A4D6-A59909CABF30}"/>
              </a:ext>
            </a:extLst>
          </p:cNvPr>
          <p:cNvSpPr>
            <a:spLocks noGrp="1"/>
          </p:cNvSpPr>
          <p:nvPr>
            <p:ph type="title"/>
          </p:nvPr>
        </p:nvSpPr>
        <p:spPr>
          <a:xfrm>
            <a:off x="1371600" y="295276"/>
            <a:ext cx="9601200" cy="495299"/>
          </a:xfrm>
        </p:spPr>
        <p:txBody>
          <a:bodyPr>
            <a:normAutofit fontScale="90000"/>
          </a:bodyPr>
          <a:lstStyle/>
          <a:p>
            <a:r>
              <a:rPr lang="pt-BR" sz="3200" dirty="0"/>
              <a:t>Exemplos </a:t>
            </a:r>
          </a:p>
        </p:txBody>
      </p:sp>
      <p:sp>
        <p:nvSpPr>
          <p:cNvPr id="3" name="Espaço Reservado para Conteúdo 2">
            <a:extLst>
              <a:ext uri="{FF2B5EF4-FFF2-40B4-BE49-F238E27FC236}">
                <a16:creationId xmlns:a16="http://schemas.microsoft.com/office/drawing/2014/main" id="{3D52728E-21DF-48B5-808A-2C6F8EEFBDE3}"/>
              </a:ext>
            </a:extLst>
          </p:cNvPr>
          <p:cNvSpPr>
            <a:spLocks noGrp="1"/>
          </p:cNvSpPr>
          <p:nvPr>
            <p:ph idx="1"/>
          </p:nvPr>
        </p:nvSpPr>
        <p:spPr>
          <a:xfrm>
            <a:off x="1371600" y="790575"/>
            <a:ext cx="9601200" cy="5772149"/>
          </a:xfrm>
        </p:spPr>
        <p:txBody>
          <a:bodyPr/>
          <a:lstStyle/>
          <a:p>
            <a:pPr marL="0" indent="0" algn="l">
              <a:buNone/>
            </a:pPr>
            <a:r>
              <a:rPr lang="pt-BR" dirty="0">
                <a:latin typeface="Arial" panose="020B0604020202020204" pitchFamily="34" charset="0"/>
                <a:cs typeface="Arial" panose="020B0604020202020204" pitchFamily="34" charset="0"/>
              </a:rPr>
              <a:t># </a:t>
            </a:r>
            <a:r>
              <a:rPr lang="en-US" dirty="0">
                <a:latin typeface="Arial" panose="020B0604020202020204" pitchFamily="34" charset="0"/>
                <a:cs typeface="Arial" panose="020B0604020202020204" pitchFamily="34" charset="0"/>
              </a:rPr>
              <a:t>L</a:t>
            </a:r>
            <a:r>
              <a:rPr lang="en-US" b="0" i="0" u="none" strike="noStrike" baseline="0" dirty="0">
                <a:latin typeface="Arial" panose="020B0604020202020204" pitchFamily="34" charset="0"/>
                <a:cs typeface="Arial" panose="020B0604020202020204" pitchFamily="34" charset="0"/>
              </a:rPr>
              <a:t>et us see </a:t>
            </a:r>
            <a:r>
              <a:rPr lang="en-US" b="0" i="0" u="none" strike="noStrike" baseline="0" dirty="0">
                <a:solidFill>
                  <a:srgbClr val="FF0000"/>
                </a:solidFill>
                <a:latin typeface="Arial" panose="020B0604020202020204" pitchFamily="34" charset="0"/>
                <a:cs typeface="Arial" panose="020B0604020202020204" pitchFamily="34" charset="0"/>
              </a:rPr>
              <a:t>if </a:t>
            </a:r>
            <a:r>
              <a:rPr lang="en-US" b="0" i="0" u="none" strike="noStrike" baseline="0" dirty="0">
                <a:latin typeface="Arial" panose="020B0604020202020204" pitchFamily="34" charset="0"/>
                <a:cs typeface="Arial" panose="020B0604020202020204" pitchFamily="34" charset="0"/>
              </a:rPr>
              <a:t>you can match an engineering design project with an engineering specialization.</a:t>
            </a:r>
            <a:endParaRPr lang="en-US" b="0" i="0" dirty="0">
              <a:solidFill>
                <a:srgbClr val="000000"/>
              </a:solidFill>
              <a:effectLst/>
              <a:latin typeface="Arial" panose="020B0604020202020204" pitchFamily="34" charset="0"/>
              <a:cs typeface="Arial" panose="020B0604020202020204" pitchFamily="34" charset="0"/>
            </a:endParaRPr>
          </a:p>
          <a:p>
            <a:pPr marL="0" indent="0" algn="l">
              <a:buNone/>
            </a:pPr>
            <a:r>
              <a:rPr lang="en-US" dirty="0">
                <a:solidFill>
                  <a:srgbClr val="000000"/>
                </a:solidFill>
                <a:latin typeface="Arial" panose="020B0604020202020204" pitchFamily="34" charset="0"/>
                <a:cs typeface="Arial" panose="020B0604020202020204" pitchFamily="34" charset="0"/>
              </a:rPr>
              <a:t># T</a:t>
            </a:r>
            <a:r>
              <a:rPr lang="en-US" b="0" i="0" u="none" strike="noStrike" baseline="0" dirty="0">
                <a:solidFill>
                  <a:srgbClr val="000000"/>
                </a:solidFill>
                <a:latin typeface="Arial" panose="020B0604020202020204" pitchFamily="34" charset="0"/>
                <a:cs typeface="Arial" panose="020B0604020202020204" pitchFamily="34" charset="0"/>
              </a:rPr>
              <a:t>he appropriate authorities must examine </a:t>
            </a:r>
            <a:r>
              <a:rPr lang="en-US" b="0" i="0" u="none" strike="noStrike" baseline="0" dirty="0">
                <a:solidFill>
                  <a:srgbClr val="FF0000"/>
                </a:solidFill>
                <a:latin typeface="Arial" panose="020B0604020202020204" pitchFamily="34" charset="0"/>
                <a:cs typeface="Arial" panose="020B0604020202020204" pitchFamily="34" charset="0"/>
              </a:rPr>
              <a:t>whether</a:t>
            </a:r>
            <a:r>
              <a:rPr lang="en-US" b="0" i="0" u="none" strike="noStrike" baseline="0" dirty="0">
                <a:solidFill>
                  <a:srgbClr val="000000"/>
                </a:solidFill>
                <a:latin typeface="Arial" panose="020B0604020202020204" pitchFamily="34" charset="0"/>
                <a:cs typeface="Arial" panose="020B0604020202020204" pitchFamily="34" charset="0"/>
              </a:rPr>
              <a:t> the water body is </a:t>
            </a:r>
            <a:r>
              <a:rPr lang="en-US" dirty="0">
                <a:solidFill>
                  <a:srgbClr val="000000"/>
                </a:solidFill>
                <a:latin typeface="Arial" panose="020B0604020202020204" pitchFamily="34" charset="0"/>
                <a:cs typeface="Arial" panose="020B0604020202020204" pitchFamily="34" charset="0"/>
              </a:rPr>
              <a:t>good</a:t>
            </a:r>
            <a:r>
              <a:rPr lang="en-US" b="0" i="0" u="none" strike="noStrike" baseline="0" dirty="0">
                <a:solidFill>
                  <a:srgbClr val="000000"/>
                </a:solidFill>
                <a:latin typeface="Arial" panose="020B0604020202020204" pitchFamily="34" charset="0"/>
                <a:cs typeface="Arial" panose="020B0604020202020204" pitchFamily="34" charset="0"/>
              </a:rPr>
              <a:t> for </a:t>
            </a:r>
            <a:r>
              <a:rPr lang="en-US" dirty="0">
                <a:solidFill>
                  <a:srgbClr val="000000"/>
                </a:solidFill>
                <a:latin typeface="Arial" panose="020B0604020202020204" pitchFamily="34" charset="0"/>
                <a:cs typeface="Arial" panose="020B0604020202020204" pitchFamily="34" charset="0"/>
              </a:rPr>
              <a:t>drinking</a:t>
            </a:r>
            <a:r>
              <a:rPr lang="en-US" b="0" i="0" u="none" strike="noStrike" baseline="0" dirty="0">
                <a:solidFill>
                  <a:srgbClr val="000000"/>
                </a:solidFill>
                <a:latin typeface="Arial" panose="020B0604020202020204" pitchFamily="34" charset="0"/>
                <a:cs typeface="Arial" panose="020B0604020202020204" pitchFamily="34" charset="0"/>
              </a:rPr>
              <a:t>.</a:t>
            </a:r>
          </a:p>
          <a:p>
            <a:pPr marL="0" indent="0" algn="l">
              <a:buNone/>
            </a:pPr>
            <a:r>
              <a:rPr lang="en-US" dirty="0">
                <a:solidFill>
                  <a:srgbClr val="000000"/>
                </a:solidFill>
                <a:latin typeface="Arial" panose="020B0604020202020204" pitchFamily="34" charset="0"/>
                <a:cs typeface="Arial" panose="020B0604020202020204" pitchFamily="34" charset="0"/>
              </a:rPr>
              <a:t># We have to speak out </a:t>
            </a:r>
            <a:r>
              <a:rPr lang="en-US" dirty="0">
                <a:solidFill>
                  <a:srgbClr val="FF0000"/>
                </a:solidFill>
                <a:latin typeface="Arial" panose="020B0604020202020204" pitchFamily="34" charset="0"/>
                <a:cs typeface="Arial" panose="020B0604020202020204" pitchFamily="34" charset="0"/>
              </a:rPr>
              <a:t>whenrever</a:t>
            </a:r>
            <a:r>
              <a:rPr lang="en-US" dirty="0">
                <a:solidFill>
                  <a:srgbClr val="000000"/>
                </a:solidFill>
                <a:latin typeface="Arial" panose="020B0604020202020204" pitchFamily="34" charset="0"/>
                <a:cs typeface="Arial" panose="020B0604020202020204" pitchFamily="34" charset="0"/>
              </a:rPr>
              <a:t> we see  malfunction of equipment. </a:t>
            </a:r>
            <a:endParaRPr lang="en-US" b="0" i="0" u="none" strike="noStrike" baseline="0" dirty="0">
              <a:solidFill>
                <a:srgbClr val="000000"/>
              </a:solidFill>
              <a:latin typeface="Arial" panose="020B0604020202020204" pitchFamily="34" charset="0"/>
              <a:cs typeface="Arial" panose="020B0604020202020204" pitchFamily="34" charset="0"/>
            </a:endParaRPr>
          </a:p>
          <a:p>
            <a:pPr marL="0" indent="0" algn="l">
              <a:buNone/>
            </a:pPr>
            <a:r>
              <a:rPr lang="en-US" b="0" i="0" dirty="0">
                <a:solidFill>
                  <a:srgbClr val="000000"/>
                </a:solidFill>
                <a:effectLst/>
                <a:latin typeface="Arial" panose="020B0604020202020204" pitchFamily="34" charset="0"/>
                <a:cs typeface="Arial" panose="020B0604020202020204" pitchFamily="34" charset="0"/>
              </a:rPr>
              <a:t># There was no water </a:t>
            </a:r>
            <a:r>
              <a:rPr lang="en-US" b="0" i="0" dirty="0">
                <a:solidFill>
                  <a:srgbClr val="FF0000"/>
                </a:solidFill>
                <a:effectLst/>
                <a:latin typeface="Arial" panose="020B0604020202020204" pitchFamily="34" charset="0"/>
                <a:cs typeface="Arial" panose="020B0604020202020204" pitchFamily="34" charset="0"/>
              </a:rPr>
              <a:t>or</a:t>
            </a:r>
            <a:r>
              <a:rPr lang="en-US" b="0" i="0" dirty="0">
                <a:solidFill>
                  <a:srgbClr val="000000"/>
                </a:solidFill>
                <a:effectLst/>
                <a:latin typeface="Arial" panose="020B0604020202020204" pitchFamily="34" charset="0"/>
                <a:cs typeface="Arial" panose="020B0604020202020204" pitchFamily="34" charset="0"/>
              </a:rPr>
              <a:t> electricity </a:t>
            </a:r>
            <a:r>
              <a:rPr lang="en-US" b="0" i="0" dirty="0">
                <a:solidFill>
                  <a:srgbClr val="FF0000"/>
                </a:solidFill>
                <a:effectLst/>
                <a:latin typeface="Arial" panose="020B0604020202020204" pitchFamily="34" charset="0"/>
                <a:cs typeface="Arial" panose="020B0604020202020204" pitchFamily="34" charset="0"/>
              </a:rPr>
              <a:t>or</a:t>
            </a:r>
            <a:r>
              <a:rPr lang="en-US" b="0" i="0" dirty="0">
                <a:solidFill>
                  <a:srgbClr val="000000"/>
                </a:solidFill>
                <a:effectLst/>
                <a:latin typeface="Arial" panose="020B0604020202020204" pitchFamily="34" charset="0"/>
                <a:cs typeface="Arial" panose="020B0604020202020204" pitchFamily="34" charset="0"/>
              </a:rPr>
              <a:t> anything like that, which bothered me.</a:t>
            </a:r>
          </a:p>
          <a:p>
            <a:pPr marL="0" indent="0" algn="l">
              <a:buNone/>
            </a:pPr>
            <a:r>
              <a:rPr lang="en-US" dirty="0">
                <a:solidFill>
                  <a:srgbClr val="000000"/>
                </a:solidFill>
                <a:latin typeface="Arial" panose="020B0604020202020204" pitchFamily="34" charset="0"/>
                <a:cs typeface="Arial" panose="020B0604020202020204" pitchFamily="34" charset="0"/>
              </a:rPr>
              <a:t># You can use </a:t>
            </a:r>
            <a:r>
              <a:rPr lang="en-US" dirty="0">
                <a:solidFill>
                  <a:srgbClr val="FF0000"/>
                </a:solidFill>
                <a:latin typeface="Arial" panose="020B0604020202020204" pitchFamily="34" charset="0"/>
                <a:cs typeface="Arial" panose="020B0604020202020204" pitchFamily="34" charset="0"/>
              </a:rPr>
              <a:t>either</a:t>
            </a:r>
            <a:r>
              <a:rPr lang="en-US" dirty="0">
                <a:solidFill>
                  <a:srgbClr val="000000"/>
                </a:solidFill>
                <a:latin typeface="Arial" panose="020B0604020202020204" pitchFamily="34" charset="0"/>
                <a:cs typeface="Arial" panose="020B0604020202020204" pitchFamily="34" charset="0"/>
              </a:rPr>
              <a:t> a sand filter </a:t>
            </a:r>
            <a:r>
              <a:rPr lang="en-US" dirty="0">
                <a:solidFill>
                  <a:srgbClr val="FF0000"/>
                </a:solidFill>
                <a:latin typeface="Arial" panose="020B0604020202020204" pitchFamily="34" charset="0"/>
                <a:cs typeface="Arial" panose="020B0604020202020204" pitchFamily="34" charset="0"/>
              </a:rPr>
              <a:t>or</a:t>
            </a:r>
            <a:r>
              <a:rPr lang="en-US" dirty="0">
                <a:solidFill>
                  <a:srgbClr val="000000"/>
                </a:solidFill>
                <a:latin typeface="Arial" panose="020B0604020202020204" pitchFamily="34" charset="0"/>
                <a:cs typeface="Arial" panose="020B0604020202020204" pitchFamily="34" charset="0"/>
              </a:rPr>
              <a:t> a carbon one.</a:t>
            </a:r>
          </a:p>
          <a:p>
            <a:pPr marL="0" indent="0" algn="l">
              <a:buNone/>
            </a:pPr>
            <a:r>
              <a:rPr lang="en-US" b="0" i="0" dirty="0">
                <a:solidFill>
                  <a:srgbClr val="000000"/>
                </a:solidFill>
                <a:effectLst/>
                <a:latin typeface="Arial" panose="020B0604020202020204" pitchFamily="34" charset="0"/>
                <a:cs typeface="Arial" panose="020B0604020202020204" pitchFamily="34" charset="0"/>
              </a:rPr>
              <a:t># That limitation, </a:t>
            </a:r>
            <a:r>
              <a:rPr lang="en-US" b="0" i="0" dirty="0">
                <a:solidFill>
                  <a:srgbClr val="FF0000"/>
                </a:solidFill>
                <a:effectLst/>
                <a:latin typeface="Arial" panose="020B0604020202020204" pitchFamily="34" charset="0"/>
                <a:cs typeface="Arial" panose="020B0604020202020204" pitchFamily="34" charset="0"/>
              </a:rPr>
              <a:t>in turn</a:t>
            </a:r>
            <a:r>
              <a:rPr lang="en-US" b="0" i="0" dirty="0">
                <a:solidFill>
                  <a:srgbClr val="000000"/>
                </a:solidFill>
                <a:effectLst/>
                <a:latin typeface="Arial" panose="020B0604020202020204" pitchFamily="34" charset="0"/>
                <a:cs typeface="Arial" panose="020B0604020202020204" pitchFamily="34" charset="0"/>
              </a:rPr>
              <a:t>, reduces the function of the new machine.</a:t>
            </a:r>
          </a:p>
          <a:p>
            <a:pPr marL="0" indent="0" algn="l">
              <a:buNone/>
            </a:pPr>
            <a:r>
              <a:rPr lang="en-US" dirty="0">
                <a:solidFill>
                  <a:srgbClr val="000000"/>
                </a:solidFill>
                <a:latin typeface="Arial" panose="020B0604020202020204" pitchFamily="34" charset="0"/>
                <a:cs typeface="Arial" panose="020B0604020202020204" pitchFamily="34" charset="0"/>
              </a:rPr>
              <a:t># </a:t>
            </a:r>
            <a:r>
              <a:rPr lang="en-US" dirty="0">
                <a:solidFill>
                  <a:srgbClr val="FF0000"/>
                </a:solidFill>
                <a:latin typeface="Arial" panose="020B0604020202020204" pitchFamily="34" charset="0"/>
                <a:cs typeface="Arial" panose="020B0604020202020204" pitchFamily="34" charset="0"/>
              </a:rPr>
              <a:t>Besides </a:t>
            </a:r>
            <a:r>
              <a:rPr lang="en-US" dirty="0">
                <a:solidFill>
                  <a:srgbClr val="000000"/>
                </a:solidFill>
                <a:latin typeface="Arial" panose="020B0604020202020204" pitchFamily="34" charset="0"/>
                <a:cs typeface="Arial" panose="020B0604020202020204" pitchFamily="34" charset="0"/>
              </a:rPr>
              <a:t>caring about our environment, she maintains a very healthy familiar environment.</a:t>
            </a:r>
          </a:p>
          <a:p>
            <a:pPr marL="0" indent="0" algn="l">
              <a:buNone/>
            </a:pPr>
            <a:r>
              <a:rPr lang="en-US" b="0" i="0" dirty="0">
                <a:solidFill>
                  <a:srgbClr val="000000"/>
                </a:solidFill>
                <a:effectLst/>
                <a:latin typeface="Arial" panose="020B0604020202020204" pitchFamily="34" charset="0"/>
                <a:cs typeface="Arial" panose="020B0604020202020204" pitchFamily="34" charset="0"/>
              </a:rPr>
              <a:t># </a:t>
            </a:r>
            <a:r>
              <a:rPr lang="en-US" b="0" i="0" dirty="0">
                <a:solidFill>
                  <a:srgbClr val="FF0000"/>
                </a:solidFill>
                <a:effectLst/>
                <a:latin typeface="Arial" panose="020B0604020202020204" pitchFamily="34" charset="0"/>
                <a:cs typeface="Arial" panose="020B0604020202020204" pitchFamily="34" charset="0"/>
              </a:rPr>
              <a:t>In addition </a:t>
            </a:r>
            <a:r>
              <a:rPr lang="en-US" b="0" i="0" dirty="0">
                <a:solidFill>
                  <a:srgbClr val="000000"/>
                </a:solidFill>
                <a:effectLst/>
                <a:latin typeface="Arial" panose="020B0604020202020204" pitchFamily="34" charset="0"/>
                <a:cs typeface="Arial" panose="020B0604020202020204" pitchFamily="34" charset="0"/>
              </a:rPr>
              <a:t>to a new partner, there have been career changes for Nate </a:t>
            </a:r>
            <a:r>
              <a:rPr lang="en-US" b="0" i="0" dirty="0">
                <a:solidFill>
                  <a:srgbClr val="FF0000"/>
                </a:solidFill>
                <a:effectLst/>
                <a:latin typeface="Arial" panose="020B0604020202020204" pitchFamily="34" charset="0"/>
                <a:cs typeface="Arial" panose="020B0604020202020204" pitchFamily="34" charset="0"/>
              </a:rPr>
              <a:t>as well</a:t>
            </a:r>
            <a:r>
              <a:rPr lang="en-US" b="0" i="0" dirty="0">
                <a:solidFill>
                  <a:srgbClr val="000000"/>
                </a:solidFill>
                <a:effectLst/>
                <a:latin typeface="Arial" panose="020B0604020202020204" pitchFamily="34" charset="0"/>
                <a:cs typeface="Arial" panose="020B0604020202020204" pitchFamily="34" charset="0"/>
              </a:rPr>
              <a:t>.</a:t>
            </a:r>
          </a:p>
          <a:p>
            <a:pPr marL="0" indent="0" algn="l">
              <a:buNone/>
            </a:pPr>
            <a:r>
              <a:rPr lang="en-US" dirty="0">
                <a:solidFill>
                  <a:srgbClr val="000000"/>
                </a:solidFill>
                <a:latin typeface="Arial" panose="020B0604020202020204" pitchFamily="34" charset="0"/>
                <a:cs typeface="Arial" panose="020B0604020202020204" pitchFamily="34" charset="0"/>
              </a:rPr>
              <a:t># He is well, </a:t>
            </a:r>
            <a:r>
              <a:rPr lang="en-US" dirty="0">
                <a:solidFill>
                  <a:srgbClr val="FF0000"/>
                </a:solidFill>
                <a:latin typeface="Arial" panose="020B0604020202020204" pitchFamily="34" charset="0"/>
                <a:cs typeface="Arial" panose="020B0604020202020204" pitchFamily="34" charset="0"/>
              </a:rPr>
              <a:t>in spite of </a:t>
            </a:r>
            <a:r>
              <a:rPr lang="en-US" dirty="0">
                <a:solidFill>
                  <a:srgbClr val="000000"/>
                </a:solidFill>
                <a:latin typeface="Arial" panose="020B0604020202020204" pitchFamily="34" charset="0"/>
                <a:cs typeface="Arial" panose="020B0604020202020204" pitchFamily="34" charset="0"/>
              </a:rPr>
              <a:t>everything he is CEO of what’s left of the Vanger Corp.</a:t>
            </a:r>
          </a:p>
          <a:p>
            <a:pPr marL="0" indent="0" algn="l">
              <a:buNone/>
            </a:pPr>
            <a:r>
              <a:rPr lang="en-US" b="0" i="0" dirty="0">
                <a:solidFill>
                  <a:srgbClr val="000000"/>
                </a:solidFill>
                <a:effectLst/>
                <a:latin typeface="Arial" panose="020B0604020202020204" pitchFamily="34" charset="0"/>
                <a:cs typeface="Arial" panose="020B0604020202020204" pitchFamily="34" charset="0"/>
              </a:rPr>
              <a:t># </a:t>
            </a:r>
            <a:r>
              <a:rPr lang="en-US" b="0" i="0" dirty="0">
                <a:solidFill>
                  <a:srgbClr val="FF0000"/>
                </a:solidFill>
                <a:effectLst/>
                <a:latin typeface="Arial" panose="020B0604020202020204" pitchFamily="34" charset="0"/>
                <a:cs typeface="Arial" panose="020B0604020202020204" pitchFamily="34" charset="0"/>
              </a:rPr>
              <a:t>Though</a:t>
            </a:r>
            <a:r>
              <a:rPr lang="en-US" b="0" i="0" dirty="0">
                <a:solidFill>
                  <a:srgbClr val="000000"/>
                </a:solidFill>
                <a:effectLst/>
                <a:latin typeface="Arial" panose="020B0604020202020204" pitchFamily="34" charset="0"/>
                <a:cs typeface="Arial" panose="020B0604020202020204" pitchFamily="34" charset="0"/>
              </a:rPr>
              <a:t> her work has been shown at other galleries, the exhibition at Eva is the most ambitious.</a:t>
            </a:r>
          </a:p>
        </p:txBody>
      </p:sp>
    </p:spTree>
    <p:extLst>
      <p:ext uri="{BB962C8B-B14F-4D97-AF65-F5344CB8AC3E}">
        <p14:creationId xmlns:p14="http://schemas.microsoft.com/office/powerpoint/2010/main" val="1466527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CFA711-7C35-418C-839A-3879205151E9}"/>
              </a:ext>
            </a:extLst>
          </p:cNvPr>
          <p:cNvSpPr>
            <a:spLocks noGrp="1"/>
          </p:cNvSpPr>
          <p:nvPr>
            <p:ph type="title"/>
          </p:nvPr>
        </p:nvSpPr>
        <p:spPr>
          <a:xfrm>
            <a:off x="1371600" y="685800"/>
            <a:ext cx="9601200" cy="523875"/>
          </a:xfrm>
        </p:spPr>
        <p:txBody>
          <a:bodyPr>
            <a:noAutofit/>
          </a:bodyPr>
          <a:lstStyle/>
          <a:p>
            <a:r>
              <a:rPr lang="pt-BR" sz="3200" dirty="0"/>
              <a:t>Exercícios</a:t>
            </a:r>
          </a:p>
        </p:txBody>
      </p:sp>
      <p:sp>
        <p:nvSpPr>
          <p:cNvPr id="3" name="Espaço Reservado para Conteúdo 2">
            <a:extLst>
              <a:ext uri="{FF2B5EF4-FFF2-40B4-BE49-F238E27FC236}">
                <a16:creationId xmlns:a16="http://schemas.microsoft.com/office/drawing/2014/main" id="{24FDC05B-5147-42C9-A279-28DD395E0E22}"/>
              </a:ext>
            </a:extLst>
          </p:cNvPr>
          <p:cNvSpPr>
            <a:spLocks noGrp="1"/>
          </p:cNvSpPr>
          <p:nvPr>
            <p:ph idx="1"/>
          </p:nvPr>
        </p:nvSpPr>
        <p:spPr>
          <a:xfrm>
            <a:off x="1371600" y="1209675"/>
            <a:ext cx="9601200" cy="4657725"/>
          </a:xfrm>
        </p:spPr>
        <p:txBody>
          <a:bodyPr/>
          <a:lstStyle/>
          <a:p>
            <a:pPr marL="457200" indent="-457200">
              <a:buAutoNum type="arabicPeriod"/>
            </a:pPr>
            <a:r>
              <a:rPr lang="pt-BR" dirty="0"/>
              <a:t>Encontre o máximo de CL no texto abaixo.</a:t>
            </a:r>
          </a:p>
          <a:p>
            <a:pPr marL="0" indent="0" algn="just">
              <a:buNone/>
            </a:pPr>
            <a:r>
              <a:rPr lang="en-US" b="0" i="0" dirty="0">
                <a:solidFill>
                  <a:srgbClr val="000000"/>
                </a:solidFill>
                <a:effectLst/>
                <a:latin typeface="Arial" panose="020B0604020202020204" pitchFamily="34" charset="0"/>
                <a:cs typeface="Arial" panose="020B0604020202020204" pitchFamily="34" charset="0"/>
              </a:rPr>
              <a:t>Although the above-mentioned scholars in related fields have done numerous works on the pneumatic soft-bodied bionic basic execution unit, the theoretical model of the pneumatic soft-bodied bionic basic execution unit needs further exploration, and the research on the motion and dynamic characteristics still need further systematization and perfection. Besides, most of the researches are limited to the type of entirely soft-bodied or filament + soft-bodied, which calls for the improvement of structure strength, execution strength, and resilience of the pneumatic soft-bodied bionic basic execution unit, making it difficult to lay a good foundation for further application. Therefore, this paper has achieved a certain extent of innovation in the structure design…</a:t>
            </a:r>
          </a:p>
          <a:p>
            <a:pPr marL="0" indent="0" algn="just">
              <a:buNone/>
            </a:pPr>
            <a:r>
              <a:rPr lang="en-US" sz="1400" dirty="0">
                <a:solidFill>
                  <a:srgbClr val="000000"/>
                </a:solidFill>
                <a:latin typeface="Arial" panose="020B0604020202020204" pitchFamily="34" charset="0"/>
                <a:cs typeface="Arial" panose="020B0604020202020204" pitchFamily="34" charset="0"/>
              </a:rPr>
              <a:t>Fonte: https://www.hindawi.com/journals/jr/2020/8860550/</a:t>
            </a:r>
            <a:endParaRPr lang="pt-BR"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5683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387B53-4DFF-41F9-BB5F-596AA5979293}"/>
              </a:ext>
            </a:extLst>
          </p:cNvPr>
          <p:cNvSpPr>
            <a:spLocks noGrp="1"/>
          </p:cNvSpPr>
          <p:nvPr>
            <p:ph type="title"/>
          </p:nvPr>
        </p:nvSpPr>
        <p:spPr>
          <a:xfrm>
            <a:off x="1371600" y="685800"/>
            <a:ext cx="9601200" cy="600075"/>
          </a:xfrm>
        </p:spPr>
        <p:txBody>
          <a:bodyPr>
            <a:normAutofit/>
          </a:bodyPr>
          <a:lstStyle/>
          <a:p>
            <a:r>
              <a:rPr lang="pt-BR" sz="2800" dirty="0"/>
              <a:t>Cont.</a:t>
            </a:r>
          </a:p>
        </p:txBody>
      </p:sp>
      <p:sp>
        <p:nvSpPr>
          <p:cNvPr id="3" name="Espaço Reservado para Conteúdo 2">
            <a:extLst>
              <a:ext uri="{FF2B5EF4-FFF2-40B4-BE49-F238E27FC236}">
                <a16:creationId xmlns:a16="http://schemas.microsoft.com/office/drawing/2014/main" id="{4D0D6537-19EA-49E1-8365-7F80C1189967}"/>
              </a:ext>
            </a:extLst>
          </p:cNvPr>
          <p:cNvSpPr>
            <a:spLocks noGrp="1"/>
          </p:cNvSpPr>
          <p:nvPr>
            <p:ph idx="1"/>
          </p:nvPr>
        </p:nvSpPr>
        <p:spPr>
          <a:xfrm>
            <a:off x="1371600" y="1219200"/>
            <a:ext cx="9601200" cy="4648200"/>
          </a:xfrm>
        </p:spPr>
        <p:txBody>
          <a:bodyPr/>
          <a:lstStyle/>
          <a:p>
            <a:pPr marL="0" indent="0">
              <a:buNone/>
            </a:pPr>
            <a:r>
              <a:rPr lang="pt-BR" dirty="0">
                <a:latin typeface="Arial" panose="020B0604020202020204" pitchFamily="34" charset="0"/>
                <a:cs typeface="Arial" panose="020B0604020202020204" pitchFamily="34" charset="0"/>
              </a:rPr>
              <a:t>             LC                                            Função</a:t>
            </a:r>
          </a:p>
          <a:p>
            <a:pPr marL="0" indent="0">
              <a:buNone/>
            </a:pPr>
            <a:r>
              <a:rPr lang="pt-BR" dirty="0">
                <a:latin typeface="Arial" panose="020B0604020202020204" pitchFamily="34" charset="0"/>
                <a:cs typeface="Arial" panose="020B0604020202020204" pitchFamily="34" charset="0"/>
              </a:rPr>
              <a:t>__________________                  ______________________</a:t>
            </a:r>
          </a:p>
          <a:p>
            <a:pPr marL="0" indent="0">
              <a:buNone/>
            </a:pPr>
            <a:r>
              <a:rPr lang="pt-BR" dirty="0">
                <a:latin typeface="Arial" panose="020B0604020202020204" pitchFamily="34" charset="0"/>
                <a:cs typeface="Arial" panose="020B0604020202020204" pitchFamily="34" charset="0"/>
              </a:rPr>
              <a:t>__________________                  ______________________</a:t>
            </a:r>
          </a:p>
          <a:p>
            <a:pPr marL="0" indent="0">
              <a:buNone/>
            </a:pPr>
            <a:r>
              <a:rPr lang="pt-BR" dirty="0">
                <a:latin typeface="Arial" panose="020B0604020202020204" pitchFamily="34" charset="0"/>
                <a:cs typeface="Arial" panose="020B0604020202020204" pitchFamily="34" charset="0"/>
              </a:rPr>
              <a:t>__________________                  ______________________</a:t>
            </a:r>
          </a:p>
          <a:p>
            <a:pPr marL="0" indent="0">
              <a:buNone/>
            </a:pPr>
            <a:r>
              <a:rPr lang="pt-BR" dirty="0">
                <a:latin typeface="Arial" panose="020B0604020202020204" pitchFamily="34" charset="0"/>
                <a:cs typeface="Arial" panose="020B0604020202020204" pitchFamily="34" charset="0"/>
              </a:rPr>
              <a:t>__________________                  ______________________</a:t>
            </a:r>
          </a:p>
          <a:p>
            <a:pPr marL="0" indent="0">
              <a:buNone/>
            </a:pPr>
            <a:r>
              <a:rPr lang="pt-BR" dirty="0">
                <a:latin typeface="Arial" panose="020B0604020202020204" pitchFamily="34" charset="0"/>
                <a:cs typeface="Arial" panose="020B0604020202020204" pitchFamily="34" charset="0"/>
              </a:rPr>
              <a:t>__________________                  ______________________</a:t>
            </a:r>
          </a:p>
          <a:p>
            <a:pPr marL="0" indent="0">
              <a:buNone/>
            </a:pPr>
            <a:r>
              <a:rPr lang="pt-BR" dirty="0">
                <a:latin typeface="Arial" panose="020B0604020202020204" pitchFamily="34" charset="0"/>
                <a:cs typeface="Arial" panose="020B0604020202020204" pitchFamily="34" charset="0"/>
              </a:rPr>
              <a:t>__________________                  ______________________</a:t>
            </a:r>
          </a:p>
        </p:txBody>
      </p:sp>
    </p:spTree>
    <p:extLst>
      <p:ext uri="{BB962C8B-B14F-4D97-AF65-F5344CB8AC3E}">
        <p14:creationId xmlns:p14="http://schemas.microsoft.com/office/powerpoint/2010/main" val="4255432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943945-CCFF-40D7-8B2B-F48C67693A22}"/>
              </a:ext>
            </a:extLst>
          </p:cNvPr>
          <p:cNvSpPr>
            <a:spLocks noGrp="1"/>
          </p:cNvSpPr>
          <p:nvPr>
            <p:ph type="title"/>
          </p:nvPr>
        </p:nvSpPr>
        <p:spPr>
          <a:xfrm>
            <a:off x="1371600" y="685800"/>
            <a:ext cx="9601200" cy="542925"/>
          </a:xfrm>
        </p:spPr>
        <p:txBody>
          <a:bodyPr>
            <a:normAutofit/>
          </a:bodyPr>
          <a:lstStyle/>
          <a:p>
            <a:r>
              <a:rPr lang="pt-BR" sz="2800" dirty="0" err="1"/>
              <a:t>Exercicio</a:t>
            </a:r>
            <a:r>
              <a:rPr lang="pt-BR" sz="2800" dirty="0"/>
              <a:t> </a:t>
            </a:r>
          </a:p>
        </p:txBody>
      </p:sp>
      <p:sp>
        <p:nvSpPr>
          <p:cNvPr id="3" name="Espaço Reservado para Conteúdo 2">
            <a:extLst>
              <a:ext uri="{FF2B5EF4-FFF2-40B4-BE49-F238E27FC236}">
                <a16:creationId xmlns:a16="http://schemas.microsoft.com/office/drawing/2014/main" id="{D9833A87-3166-499C-ADEE-B3796D47C437}"/>
              </a:ext>
            </a:extLst>
          </p:cNvPr>
          <p:cNvSpPr>
            <a:spLocks noGrp="1"/>
          </p:cNvSpPr>
          <p:nvPr>
            <p:ph idx="1"/>
          </p:nvPr>
        </p:nvSpPr>
        <p:spPr>
          <a:xfrm>
            <a:off x="1371600" y="1304925"/>
            <a:ext cx="9601200" cy="4562475"/>
          </a:xfrm>
        </p:spPr>
        <p:txBody>
          <a:bodyPr>
            <a:normAutofit/>
          </a:bodyPr>
          <a:lstStyle/>
          <a:p>
            <a:pPr marL="0" indent="0">
              <a:buNone/>
            </a:pPr>
            <a:r>
              <a:rPr lang="pt-BR" sz="1800" dirty="0">
                <a:latin typeface="Arial" panose="020B0604020202020204" pitchFamily="34" charset="0"/>
                <a:cs typeface="Arial" panose="020B0604020202020204" pitchFamily="34" charset="0"/>
              </a:rPr>
              <a:t>2. Leia as sentenças abaixo e escolha um CL apropriado.</a:t>
            </a:r>
          </a:p>
          <a:p>
            <a:pPr marL="0" indent="0">
              <a:buNone/>
            </a:pPr>
            <a:r>
              <a:rPr lang="pt-BR" sz="1800" dirty="0">
                <a:latin typeface="Arial" panose="020B0604020202020204" pitchFamily="34" charset="0"/>
                <a:cs typeface="Arial" panose="020B0604020202020204" pitchFamily="34" charset="0"/>
              </a:rPr>
              <a:t>A. </a:t>
            </a:r>
            <a:r>
              <a:rPr lang="en-US" sz="1800" dirty="0">
                <a:latin typeface="Arial" panose="020B0604020202020204" pitchFamily="34" charset="0"/>
                <a:cs typeface="Arial" panose="020B0604020202020204" pitchFamily="34" charset="0"/>
              </a:rPr>
              <a:t>________development discussions, it was evident that Sam had no intention of taking the course.</a:t>
            </a:r>
          </a:p>
          <a:p>
            <a:pPr marL="0" indent="0">
              <a:buNone/>
            </a:pPr>
            <a:r>
              <a:rPr lang="pt-BR" sz="1800" dirty="0">
                <a:latin typeface="Arial" panose="020B0604020202020204" pitchFamily="34" charset="0"/>
                <a:cs typeface="Arial" panose="020B0604020202020204" pitchFamily="34" charset="0"/>
              </a:rPr>
              <a:t>a. Either     b. Despite   c. Or    d. Else</a:t>
            </a:r>
          </a:p>
          <a:p>
            <a:pPr marL="0" indent="0">
              <a:buNone/>
            </a:pPr>
            <a:r>
              <a:rPr lang="pt-BR" sz="1800" dirty="0">
                <a:latin typeface="Arial" panose="020B0604020202020204" pitchFamily="34" charset="0"/>
                <a:cs typeface="Arial" panose="020B0604020202020204" pitchFamily="34" charset="0"/>
              </a:rPr>
              <a:t>B. </a:t>
            </a:r>
            <a:r>
              <a:rPr lang="en-US" sz="1800" dirty="0">
                <a:latin typeface="Arial" panose="020B0604020202020204" pitchFamily="34" charset="0"/>
                <a:cs typeface="Arial" panose="020B0604020202020204" pitchFamily="34" charset="0"/>
              </a:rPr>
              <a:t>It is ___________ considered bad sportsmanship, ________ against the rules.</a:t>
            </a:r>
          </a:p>
          <a:p>
            <a:pPr marL="457200" indent="-457200">
              <a:buAutoNum type="alphaLcPeriod"/>
            </a:pPr>
            <a:r>
              <a:rPr lang="en-US" sz="1800" dirty="0">
                <a:latin typeface="Arial" panose="020B0604020202020204" pitchFamily="34" charset="0"/>
                <a:cs typeface="Arial" panose="020B0604020202020204" pitchFamily="34" charset="0"/>
              </a:rPr>
              <a:t>not only … but also   b. both … and    c. and …. and     d. on one hand … on the other</a:t>
            </a:r>
          </a:p>
          <a:p>
            <a:pPr marL="0" indent="0">
              <a:buNone/>
            </a:pPr>
            <a:r>
              <a:rPr lang="en-US" sz="1800" dirty="0">
                <a:latin typeface="Arial" panose="020B0604020202020204" pitchFamily="34" charset="0"/>
                <a:cs typeface="Arial" panose="020B0604020202020204" pitchFamily="34" charset="0"/>
              </a:rPr>
              <a:t>C. The best players in the country are competing, and ________the prize is second rate.</a:t>
            </a:r>
          </a:p>
          <a:p>
            <a:pPr marL="457200" indent="-457200">
              <a:buAutoNum type="alphaLcPeriod"/>
            </a:pPr>
            <a:r>
              <a:rPr lang="en-US" sz="1800" dirty="0">
                <a:latin typeface="Arial" panose="020B0604020202020204" pitchFamily="34" charset="0"/>
                <a:cs typeface="Arial" panose="020B0604020202020204" pitchFamily="34" charset="0"/>
              </a:rPr>
              <a:t>or       b. but     c. in addition   d. yet</a:t>
            </a:r>
          </a:p>
          <a:p>
            <a:pPr marL="0" indent="0">
              <a:buNone/>
            </a:pPr>
            <a:r>
              <a:rPr lang="en-US" sz="1800" dirty="0">
                <a:latin typeface="Arial" panose="020B0604020202020204" pitchFamily="34" charset="0"/>
                <a:cs typeface="Arial" panose="020B0604020202020204" pitchFamily="34" charset="0"/>
              </a:rPr>
              <a:t>D. Shaw may have been wrong in ___________that an open announcement of Great Britain's determination to enter the war.</a:t>
            </a:r>
          </a:p>
          <a:p>
            <a:pPr marL="0" indent="0">
              <a:buNone/>
            </a:pPr>
            <a:r>
              <a:rPr lang="en-US" sz="1800" dirty="0">
                <a:latin typeface="Arial" panose="020B0604020202020204" pitchFamily="34" charset="0"/>
                <a:cs typeface="Arial" panose="020B0604020202020204" pitchFamily="34" charset="0"/>
              </a:rPr>
              <a:t>a. supposing     b.  conversely   c. wherever   d. neither</a:t>
            </a:r>
            <a:endParaRPr lang="pt-BR"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11537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681EFAAF-DDD9-4F8B-B6DC-B0E9C12E92E8}"/>
              </a:ext>
            </a:extLst>
          </p:cNvPr>
          <p:cNvSpPr txBox="1"/>
          <p:nvPr/>
        </p:nvSpPr>
        <p:spPr>
          <a:xfrm>
            <a:off x="1343025" y="1158923"/>
            <a:ext cx="9315449" cy="6677982"/>
          </a:xfrm>
          <a:prstGeom prst="rect">
            <a:avLst/>
          </a:prstGeom>
          <a:noFill/>
        </p:spPr>
        <p:txBody>
          <a:bodyPr wrap="square">
            <a:spAutoFit/>
          </a:bodyPr>
          <a:lstStyle/>
          <a:p>
            <a:pPr>
              <a:lnSpc>
                <a:spcPct val="107000"/>
              </a:lnSpc>
              <a:spcAft>
                <a:spcPts val="800"/>
              </a:spcAft>
            </a:pPr>
            <a:r>
              <a:rPr lang="pt-BR" sz="1800" dirty="0">
                <a:effectLst/>
                <a:latin typeface="Arial" panose="020B0604020202020204" pitchFamily="34" charset="0"/>
                <a:ea typeface="Calibri" panose="020F0502020204030204" pitchFamily="34" charset="0"/>
                <a:cs typeface="Times New Roman" panose="02020603050405020304" pitchFamily="18" charset="0"/>
              </a:rPr>
              <a:t>3. </a:t>
            </a:r>
            <a:r>
              <a:rPr lang="pt-BR" sz="1800" dirty="0">
                <a:effectLst/>
                <a:latin typeface="Arial" panose="020B0604020202020204" pitchFamily="34" charset="0"/>
                <a:ea typeface="Calibri" panose="020F0502020204030204" pitchFamily="34" charset="0"/>
                <a:cs typeface="Arial" panose="020B0604020202020204" pitchFamily="34" charset="0"/>
              </a:rPr>
              <a:t>Retire os Conectores conforme pedido em cada trecho</a:t>
            </a:r>
          </a:p>
          <a:p>
            <a:pPr>
              <a:lnSpc>
                <a:spcPct val="107000"/>
              </a:lnSpc>
              <a:spcAft>
                <a:spcPts val="800"/>
              </a:spcAft>
            </a:pPr>
            <a:r>
              <a:rPr lang="en-US" sz="1800" dirty="0">
                <a:effectLst/>
                <a:latin typeface="Arial" panose="020B0604020202020204" pitchFamily="34" charset="0"/>
                <a:ea typeface="Calibri" panose="020F0502020204030204" pitchFamily="34" charset="0"/>
                <a:cs typeface="Arial" panose="020B0604020202020204" pitchFamily="34" charset="0"/>
              </a:rPr>
              <a:t>A – In addition to the advantages and usages of social media networking platforms, several other issues can manipulate the detriments and expose them.</a:t>
            </a:r>
          </a:p>
          <a:p>
            <a:pPr>
              <a:lnSpc>
                <a:spcPct val="107000"/>
              </a:lnSpc>
              <a:spcAft>
                <a:spcPts val="800"/>
              </a:spcAft>
            </a:pPr>
            <a:r>
              <a:rPr lang="en-US" sz="1800" dirty="0" err="1">
                <a:effectLst/>
                <a:latin typeface="Arial" panose="020B0604020202020204" pitchFamily="34" charset="0"/>
                <a:ea typeface="Calibri" panose="020F0502020204030204" pitchFamily="34" charset="0"/>
                <a:cs typeface="Arial" panose="020B0604020202020204" pitchFamily="34" charset="0"/>
              </a:rPr>
              <a:t>Três</a:t>
            </a:r>
            <a:r>
              <a:rPr lang="en-US" sz="1800" dirty="0">
                <a:effectLst/>
                <a:latin typeface="Arial" panose="020B0604020202020204" pitchFamily="34" charset="0"/>
                <a:ea typeface="Calibri" panose="020F0502020204030204" pitchFamily="34" charset="0"/>
                <a:cs typeface="Arial" panose="020B0604020202020204" pitchFamily="34" charset="0"/>
              </a:rPr>
              <a:t> </a:t>
            </a:r>
            <a:r>
              <a:rPr lang="en-US" sz="1800" dirty="0" err="1">
                <a:effectLst/>
                <a:latin typeface="Arial" panose="020B0604020202020204" pitchFamily="34" charset="0"/>
                <a:ea typeface="Calibri" panose="020F0502020204030204" pitchFamily="34" charset="0"/>
                <a:cs typeface="Arial" panose="020B0604020202020204" pitchFamily="34" charset="0"/>
              </a:rPr>
              <a:t>aditivos</a:t>
            </a:r>
            <a:r>
              <a:rPr lang="en-US" sz="1800" dirty="0">
                <a:effectLst/>
                <a:latin typeface="Arial" panose="020B0604020202020204" pitchFamily="34" charset="0"/>
                <a:ea typeface="Calibri" panose="020F0502020204030204" pitchFamily="34" charset="0"/>
                <a:cs typeface="Arial" panose="020B0604020202020204" pitchFamily="34" charset="0"/>
              </a:rPr>
              <a:t> _________________  _________________ ____________</a:t>
            </a:r>
          </a:p>
          <a:p>
            <a:pPr>
              <a:lnSpc>
                <a:spcPct val="107000"/>
              </a:lnSpc>
              <a:spcAft>
                <a:spcPts val="800"/>
              </a:spcAft>
            </a:pPr>
            <a:endParaRPr lang="en-US" dirty="0">
              <a:latin typeface="Arial" panose="020B0604020202020204" pitchFamily="34" charset="0"/>
              <a:ea typeface="Calibri" panose="020F0502020204030204" pitchFamily="34" charset="0"/>
              <a:cs typeface="Arial" panose="020B0604020202020204" pitchFamily="34" charset="0"/>
            </a:endParaRPr>
          </a:p>
          <a:p>
            <a:pPr>
              <a:lnSpc>
                <a:spcPct val="107000"/>
              </a:lnSpc>
              <a:spcAft>
                <a:spcPts val="80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B – Essentially, the system of sentimental analysis examines and categorizes the data into three classes that are positive, negative, and neutral. Such a system can be used to detect suspicious activity on social media networking or custom social platforms.</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US" sz="18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err="1">
                <a:effectLst/>
                <a:latin typeface="Arial" panose="020B0604020202020204" pitchFamily="34" charset="0"/>
                <a:ea typeface="Calibri" panose="020F0502020204030204" pitchFamily="34" charset="0"/>
                <a:cs typeface="Times New Roman" panose="02020603050405020304" pitchFamily="18" charset="0"/>
              </a:rPr>
              <a:t>Dois</a:t>
            </a:r>
            <a:r>
              <a:rPr lang="en-US" sz="1800" dirty="0">
                <a:effectLst/>
                <a:latin typeface="Arial" panose="020B0604020202020204" pitchFamily="34" charset="0"/>
                <a:ea typeface="Calibri" panose="020F0502020204030204" pitchFamily="34" charset="0"/>
                <a:cs typeface="Times New Roman" panose="02020603050405020304" pitchFamily="18" charset="0"/>
              </a:rPr>
              <a:t>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aditivos</a:t>
            </a:r>
            <a:r>
              <a:rPr lang="en-US" sz="1800" dirty="0">
                <a:effectLst/>
                <a:latin typeface="Arial" panose="020B0604020202020204" pitchFamily="34" charset="0"/>
                <a:ea typeface="Calibri" panose="020F0502020204030204" pitchFamily="34" charset="0"/>
                <a:cs typeface="Times New Roman" panose="02020603050405020304" pitchFamily="18" charset="0"/>
              </a:rPr>
              <a:t> ___________________  ____________________</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Um de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alternativa</a:t>
            </a:r>
            <a:r>
              <a:rPr lang="en-US" sz="1800" dirty="0">
                <a:effectLst/>
                <a:latin typeface="Arial" panose="020B0604020202020204" pitchFamily="34" charset="0"/>
                <a:ea typeface="Calibri" panose="020F0502020204030204" pitchFamily="34" charset="0"/>
                <a:cs typeface="Times New Roman" panose="02020603050405020304" pitchFamily="18" charset="0"/>
              </a:rPr>
              <a:t> _______________</a:t>
            </a:r>
          </a:p>
          <a:p>
            <a:pPr>
              <a:lnSpc>
                <a:spcPct val="107000"/>
              </a:lnSpc>
              <a:spcAft>
                <a:spcPts val="800"/>
              </a:spcAft>
            </a:pPr>
            <a:endParaRPr lang="en-US" dirty="0">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C – The identity controller checks whether the received identities information of the thing is authorized to use a specific service. The process stops if the access is unauthorized.</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err="1">
                <a:effectLst/>
                <a:latin typeface="Arial" panose="020B0604020202020204" pitchFamily="34" charset="0"/>
                <a:ea typeface="Calibri" panose="020F0502020204030204" pitchFamily="34" charset="0"/>
                <a:cs typeface="Times New Roman" panose="02020603050405020304" pitchFamily="18" charset="0"/>
              </a:rPr>
              <a:t>Dois</a:t>
            </a:r>
            <a:r>
              <a:rPr lang="en-US" sz="1800" dirty="0">
                <a:effectLst/>
                <a:latin typeface="Arial" panose="020B0604020202020204" pitchFamily="34" charset="0"/>
                <a:ea typeface="Calibri" panose="020F0502020204030204" pitchFamily="34" charset="0"/>
                <a:cs typeface="Times New Roman" panose="02020603050405020304" pitchFamily="18" charset="0"/>
              </a:rPr>
              <a:t> de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condição</a:t>
            </a:r>
            <a:r>
              <a:rPr lang="en-US" sz="1800" dirty="0">
                <a:effectLst/>
                <a:latin typeface="Arial" panose="020B0604020202020204" pitchFamily="34" charset="0"/>
                <a:ea typeface="Calibri" panose="020F0502020204030204" pitchFamily="34" charset="0"/>
                <a:cs typeface="Times New Roman" panose="02020603050405020304" pitchFamily="18" charset="0"/>
              </a:rPr>
              <a:t>  _________________    _______________</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pt-BR" sz="1800" dirty="0">
              <a:effectLst/>
              <a:latin typeface="Arial" panose="020B0604020202020204" pitchFamily="34" charset="0"/>
              <a:ea typeface="Calibri" panose="020F0502020204030204" pitchFamily="34" charset="0"/>
              <a:cs typeface="Arial" panose="020B0604020202020204" pitchFamily="34" charset="0"/>
            </a:endParaRPr>
          </a:p>
          <a:p>
            <a:pPr marL="2057400" indent="-1943100">
              <a:lnSpc>
                <a:spcPct val="107000"/>
              </a:lnSpc>
              <a:spcAft>
                <a:spcPts val="800"/>
              </a:spcAft>
            </a:pPr>
            <a:endParaRPr lang="pt-BR" sz="1400" dirty="0">
              <a:effectLst/>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985848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6E3CA0E3-3B68-4645-AC7C-27BDEBB36019}"/>
              </a:ext>
            </a:extLst>
          </p:cNvPr>
          <p:cNvSpPr txBox="1"/>
          <p:nvPr/>
        </p:nvSpPr>
        <p:spPr>
          <a:xfrm>
            <a:off x="955497" y="297951"/>
            <a:ext cx="10356350" cy="4495974"/>
          </a:xfrm>
          <a:prstGeom prst="rect">
            <a:avLst/>
          </a:prstGeom>
          <a:noFill/>
        </p:spPr>
        <p:txBody>
          <a:bodyPr wrap="square">
            <a:spAutoFit/>
          </a:bodyPr>
          <a:lstStyle/>
          <a:p>
            <a:pPr>
              <a:lnSpc>
                <a:spcPct val="107000"/>
              </a:lnSpc>
              <a:spcAft>
                <a:spcPts val="80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D – Furthermore, the working memory training slightly improved working memory performance, yet the transfer effect on ERD comprehension task was poor.</a:t>
            </a:r>
            <a:endParaRPr lang="pt-BR"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US" sz="1800" dirty="0">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Um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aditivo</a:t>
            </a:r>
            <a:r>
              <a:rPr lang="en-US" sz="1800" dirty="0">
                <a:effectLst/>
                <a:latin typeface="Arial" panose="020B0604020202020204" pitchFamily="34" charset="0"/>
                <a:ea typeface="Calibri" panose="020F0502020204030204" pitchFamily="34" charset="0"/>
                <a:cs typeface="Times New Roman" panose="02020603050405020304" pitchFamily="18" charset="0"/>
              </a:rPr>
              <a:t> _________________</a:t>
            </a:r>
            <a:endParaRPr lang="pt-BR"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Um de </a:t>
            </a:r>
            <a:r>
              <a:rPr lang="en-US" sz="1800" dirty="0" err="1">
                <a:effectLst/>
                <a:latin typeface="Arial" panose="020B0604020202020204" pitchFamily="34" charset="0"/>
                <a:ea typeface="Calibri" panose="020F0502020204030204" pitchFamily="34" charset="0"/>
                <a:cs typeface="Times New Roman" panose="02020603050405020304" pitchFamily="18" charset="0"/>
              </a:rPr>
              <a:t>contraste</a:t>
            </a:r>
            <a:r>
              <a:rPr lang="en-US" sz="1800" dirty="0">
                <a:effectLst/>
                <a:latin typeface="Arial" panose="020B0604020202020204" pitchFamily="34" charset="0"/>
                <a:ea typeface="Calibri" panose="020F0502020204030204" pitchFamily="34" charset="0"/>
                <a:cs typeface="Times New Roman" panose="02020603050405020304" pitchFamily="18" charset="0"/>
              </a:rPr>
              <a:t> __________________</a:t>
            </a:r>
          </a:p>
          <a:p>
            <a:pPr>
              <a:lnSpc>
                <a:spcPct val="107000"/>
              </a:lnSpc>
              <a:spcAft>
                <a:spcPts val="800"/>
              </a:spcAft>
            </a:pPr>
            <a:endParaRPr lang="en-US" dirty="0">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effectLst/>
                <a:latin typeface="Arial" panose="020B0604020202020204" pitchFamily="34" charset="0"/>
                <a:ea typeface="Calibri" panose="020F0502020204030204" pitchFamily="34" charset="0"/>
                <a:cs typeface="Times New Roman" panose="02020603050405020304" pitchFamily="18" charset="0"/>
              </a:rPr>
              <a:t>E – </a:t>
            </a:r>
            <a:r>
              <a:rPr lang="en-US"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Moreover, compared to neighboring countries, it has received less attention in tsunami research despite having regions with high seismic activity.</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US"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Um </a:t>
            </a:r>
            <a:r>
              <a:rPr lang="en-US" sz="1800" dirty="0" err="1">
                <a:solidFill>
                  <a:srgbClr val="333333"/>
                </a:solidFill>
                <a:effectLst/>
                <a:latin typeface="Arial" panose="020B0604020202020204" pitchFamily="34" charset="0"/>
                <a:ea typeface="Calibri" panose="020F0502020204030204" pitchFamily="34" charset="0"/>
                <a:cs typeface="Times New Roman" panose="02020603050405020304" pitchFamily="18" charset="0"/>
              </a:rPr>
              <a:t>aditivo</a:t>
            </a:r>
            <a:r>
              <a:rPr lang="en-US"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 ________________</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Um de </a:t>
            </a:r>
            <a:r>
              <a:rPr lang="en-US" sz="1800" dirty="0" err="1">
                <a:solidFill>
                  <a:srgbClr val="333333"/>
                </a:solidFill>
                <a:effectLst/>
                <a:latin typeface="Arial" panose="020B0604020202020204" pitchFamily="34" charset="0"/>
                <a:ea typeface="Calibri" panose="020F0502020204030204" pitchFamily="34" charset="0"/>
                <a:cs typeface="Times New Roman" panose="02020603050405020304" pitchFamily="18" charset="0"/>
              </a:rPr>
              <a:t>contraste</a:t>
            </a:r>
            <a:r>
              <a:rPr lang="en-US"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 ______________________</a:t>
            </a:r>
            <a:endParaRPr lang="pt-BR"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pt-BR"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63483017"/>
      </p:ext>
    </p:extLst>
  </p:cSld>
  <p:clrMapOvr>
    <a:masterClrMapping/>
  </p:clrMapOvr>
</p:sld>
</file>

<file path=ppt/theme/theme1.xml><?xml version="1.0" encoding="utf-8"?>
<a:theme xmlns:a="http://schemas.openxmlformats.org/drawingml/2006/main" name="Cortar">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docProps/app.xml><?xml version="1.0" encoding="utf-8"?>
<Properties xmlns="http://schemas.openxmlformats.org/officeDocument/2006/extended-properties" xmlns:vt="http://schemas.openxmlformats.org/officeDocument/2006/docPropsVTypes">
  <Template>TM10001105[[fn=Corte]]</Template>
  <TotalTime>499</TotalTime>
  <Words>1106</Words>
  <Application>Microsoft Office PowerPoint</Application>
  <PresentationFormat>Widescreen</PresentationFormat>
  <Paragraphs>80</Paragraphs>
  <Slides>11</Slides>
  <Notes>0</Notes>
  <HiddenSlides>0</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11</vt:i4>
      </vt:variant>
    </vt:vector>
  </HeadingPairs>
  <TitlesOfParts>
    <vt:vector size="16" baseType="lpstr">
      <vt:lpstr>Arial</vt:lpstr>
      <vt:lpstr>Calibri</vt:lpstr>
      <vt:lpstr>Franklin Gothic Book</vt:lpstr>
      <vt:lpstr>LMRoman12-Regular-Identity-H</vt:lpstr>
      <vt:lpstr>Cortar</vt:lpstr>
      <vt:lpstr>Conectores lógicos</vt:lpstr>
      <vt:lpstr>Conectores Lógicos</vt:lpstr>
      <vt:lpstr>Alguns Exemplos </vt:lpstr>
      <vt:lpstr>Conectores e seus funcionamentos</vt:lpstr>
      <vt:lpstr>Cont.</vt:lpstr>
      <vt:lpstr>Exemplos </vt:lpstr>
      <vt:lpstr>Exercícios</vt:lpstr>
      <vt:lpstr>Cont.</vt:lpstr>
      <vt:lpstr>Exercicio </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Conectores lógicos</dc:title>
  <dc:creator>Saulo Brandão</dc:creator>
  <cp:lastModifiedBy>Saulo Brandão</cp:lastModifiedBy>
  <cp:revision>12</cp:revision>
  <dcterms:created xsi:type="dcterms:W3CDTF">2021-01-04T23:47:23Z</dcterms:created>
  <dcterms:modified xsi:type="dcterms:W3CDTF">2022-03-07T17:40:34Z</dcterms:modified>
</cp:coreProperties>
</file>