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7" d="100"/>
          <a:sy n="87" d="100"/>
        </p:scale>
        <p:origin x="-304" y="-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883AF1-DD92-4ABE-93DA-E34747868E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871132"/>
            <a:ext cx="6815669" cy="1205444"/>
          </a:xfrm>
        </p:spPr>
        <p:txBody>
          <a:bodyPr/>
          <a:lstStyle/>
          <a:p>
            <a:r>
              <a:rPr lang="pt-BR" sz="3200" dirty="0"/>
              <a:t>Conectores Lógicos ou Marcadores Discursivos (2ª Parte)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D2BC73-A9F9-4C77-BFDB-D2FF7D379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495675"/>
            <a:ext cx="6815669" cy="1885950"/>
          </a:xfrm>
        </p:spPr>
        <p:txBody>
          <a:bodyPr/>
          <a:lstStyle/>
          <a:p>
            <a:r>
              <a:rPr lang="pt-BR" dirty="0"/>
              <a:t>- Causa ou Consequência</a:t>
            </a:r>
          </a:p>
          <a:p>
            <a:r>
              <a:rPr lang="pt-BR" dirty="0"/>
              <a:t>- Tempo ou Sequência Lógica</a:t>
            </a:r>
          </a:p>
          <a:p>
            <a:r>
              <a:rPr lang="pt-BR" dirty="0"/>
              <a:t>- Ênfase</a:t>
            </a:r>
          </a:p>
          <a:p>
            <a:r>
              <a:rPr lang="pt-BR" dirty="0"/>
              <a:t>- Comparação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1128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47758-57A4-4973-989D-FE99FB6B5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799043"/>
          </a:xfrm>
        </p:spPr>
        <p:txBody>
          <a:bodyPr>
            <a:normAutofit/>
          </a:bodyPr>
          <a:lstStyle/>
          <a:p>
            <a:r>
              <a:rPr lang="pt-BR" sz="2400" dirty="0"/>
              <a:t>Conectores Lógicos ou Marcadores Discursivos (2ª Parte)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B05742-8164-40D0-BE0B-D18868B10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895475"/>
            <a:ext cx="9601196" cy="3743325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O funcionamento dos conectores lógicos já é de nosso conhecimento, mas...</a:t>
            </a:r>
          </a:p>
          <a:p>
            <a:pPr marL="0" indent="0">
              <a:buNone/>
            </a:pPr>
            <a:r>
              <a:rPr lang="pt-BR" dirty="0"/>
              <a:t>Vamos recordar: O que são conectores lógicos ou marcadores discursivos?</a:t>
            </a:r>
          </a:p>
          <a:p>
            <a:pPr>
              <a:buFontTx/>
              <a:buChar char="-"/>
            </a:pPr>
            <a:r>
              <a:rPr lang="pt-BR" dirty="0"/>
              <a:t>São palavras ou termos que têm a função de conectar duas orações, ao mesmo tempo que introduzem uma relação entre a 1ª oração com a segunda.</a:t>
            </a:r>
          </a:p>
          <a:p>
            <a:pPr marL="0" indent="0">
              <a:buNone/>
            </a:pPr>
            <a:r>
              <a:rPr lang="pt-BR" dirty="0"/>
              <a:t> Por exemplo: </a:t>
            </a:r>
            <a:r>
              <a:rPr lang="en-US" sz="1800" b="1" dirty="0"/>
              <a:t>ALTHOUGH</a:t>
            </a:r>
            <a:r>
              <a:rPr lang="en-US" sz="1800" dirty="0"/>
              <a:t> FPGA is flexible in terms of hardware implementation, it is not as flexible as the ASIC.</a:t>
            </a:r>
          </a:p>
          <a:p>
            <a:pPr marL="0" indent="0">
              <a:buNone/>
            </a:pPr>
            <a:r>
              <a:rPr lang="pt-BR" dirty="0"/>
              <a:t>A frase em português: </a:t>
            </a:r>
            <a:r>
              <a:rPr lang="pt-BR" sz="1800" b="1" dirty="0"/>
              <a:t>Embora</a:t>
            </a:r>
            <a:r>
              <a:rPr lang="pt-BR" sz="1800" dirty="0"/>
              <a:t> FPGA seja flexissível em termos de implementação de equipamentos, ele não é tão flexível quanto o ASIC.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5154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DB75D5-25FB-4790-B706-9B279026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560918"/>
          </a:xfrm>
        </p:spPr>
        <p:txBody>
          <a:bodyPr>
            <a:normAutofit/>
          </a:bodyPr>
          <a:lstStyle/>
          <a:p>
            <a:r>
              <a:rPr lang="pt-BR" sz="2400" dirty="0"/>
              <a:t>Conectores Lógicos ou Marcadores Discursivos (2ª Parte)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F661FC-A837-41F1-B32F-6A04E9624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716157"/>
            <a:ext cx="9601196" cy="41994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>
                <a:latin typeface="+mj-lt"/>
              </a:rPr>
              <a:t>Observem que a 1ª oração afirma que o FPGA é maleável, (e na 2ª aponta outra possiblidade) EMBORA o ASIC seja mais.</a:t>
            </a:r>
          </a:p>
          <a:p>
            <a:pPr marL="0" indent="0">
              <a:buNone/>
            </a:pPr>
            <a:r>
              <a:rPr lang="pt-BR" dirty="0">
                <a:latin typeface="+mj-lt"/>
              </a:rPr>
              <a:t>Vejam outro exemplo: 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# Subsurface flow from Santa Paula subbasin makes its way over </a:t>
            </a:r>
            <a:r>
              <a:rPr lang="en-US" sz="2000" b="1" dirty="0">
                <a:latin typeface="+mj-lt"/>
              </a:rPr>
              <a:t>OR</a:t>
            </a:r>
            <a:r>
              <a:rPr lang="en-US" dirty="0">
                <a:latin typeface="+mj-lt"/>
              </a:rPr>
              <a:t> across the Oak Ridge fault.</a:t>
            </a:r>
            <a:br>
              <a:rPr lang="pt-BR" sz="1800" dirty="0">
                <a:latin typeface="+mj-lt"/>
              </a:rPr>
            </a:br>
            <a:r>
              <a:rPr lang="pt-BR" sz="2800" dirty="0">
                <a:latin typeface="+mj-lt"/>
              </a:rPr>
              <a:t>Em português</a:t>
            </a:r>
            <a:r>
              <a:rPr lang="pt-BR" dirty="0">
                <a:latin typeface="+mj-lt"/>
              </a:rPr>
              <a:t>: O f</a:t>
            </a:r>
            <a:r>
              <a:rPr lang="pt-BR" dirty="0">
                <a:solidFill>
                  <a:srgbClr val="202124"/>
                </a:solidFill>
                <a:latin typeface="+mj-lt"/>
              </a:rPr>
              <a:t>luxo subterrâneo da sub-bacia Santa Paula passa por cima </a:t>
            </a:r>
            <a:r>
              <a:rPr lang="pt-BR" b="1" dirty="0">
                <a:solidFill>
                  <a:srgbClr val="202124"/>
                </a:solidFill>
                <a:latin typeface="+mj-lt"/>
              </a:rPr>
              <a:t>ou</a:t>
            </a:r>
            <a:r>
              <a:rPr lang="pt-BR" dirty="0">
                <a:solidFill>
                  <a:srgbClr val="202124"/>
                </a:solidFill>
                <a:latin typeface="+mj-lt"/>
              </a:rPr>
              <a:t> pela falha de Oak Ridge.</a:t>
            </a:r>
          </a:p>
          <a:p>
            <a:pPr marL="0" indent="0">
              <a:buNone/>
            </a:pPr>
            <a:r>
              <a:rPr lang="pt-BR" dirty="0">
                <a:solidFill>
                  <a:srgbClr val="202124"/>
                </a:solidFill>
                <a:latin typeface="+mj-lt"/>
              </a:rPr>
              <a:t>Ou seja: o fluxo passa por cima OU pela falha de Oak Ridge. </a:t>
            </a:r>
            <a:r>
              <a:rPr lang="pt-BR" sz="2000" dirty="0">
                <a:solidFill>
                  <a:srgbClr val="202124"/>
                </a:solidFill>
                <a:latin typeface="+mj-lt"/>
              </a:rPr>
              <a:t>(trata-se de uma alternativa)</a:t>
            </a:r>
            <a:endParaRPr lang="pt-BR" dirty="0">
              <a:latin typeface="+mj-lt"/>
            </a:endParaRP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6759F8-2C6F-4B91-9DA3-2466F1B10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BR" sz="2100" b="0" i="0" u="none" strike="noStrike" cap="none" normalizeH="0" baseline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fluxo focalizado ao longo das falhas.</a:t>
            </a:r>
            <a:r>
              <a:rPr kumimoji="0" lang="pt-PT" altLang="pt-BR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PT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9E40A9C-D400-47EF-892D-0624D1414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32237"/>
            <a:ext cx="495328" cy="297525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BR" sz="21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flux.</a:t>
            </a:r>
            <a:r>
              <a:rPr kumimoji="0" lang="pt-PT" altLang="pt-B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PT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41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078F1-168D-42E9-A2BB-6882D8C52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70468"/>
          </a:xfrm>
        </p:spPr>
        <p:txBody>
          <a:bodyPr>
            <a:normAutofit/>
          </a:bodyPr>
          <a:lstStyle/>
          <a:p>
            <a:r>
              <a:rPr lang="pt-BR" sz="2400" dirty="0"/>
              <a:t>Conectores Lógicos ou Marcadores Discursivos (2ª Parte)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AD0699-5764-477B-8A90-C68087AA9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847850"/>
            <a:ext cx="9601196" cy="40280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Vejam as novas funcionalidades dos Conectores Lógicos:</a:t>
            </a:r>
          </a:p>
          <a:p>
            <a:pPr marL="0" indent="0">
              <a:buNone/>
            </a:pPr>
            <a:r>
              <a:rPr lang="pt-BR" b="1" dirty="0"/>
              <a:t>Causa ou Consequência</a:t>
            </a:r>
            <a:r>
              <a:rPr lang="pt-BR" dirty="0"/>
              <a:t>: existe um aforismo da filosofia (Descartes) que é clássico e um bom exemplo dos conectores de causa ou consequência: </a:t>
            </a:r>
          </a:p>
          <a:p>
            <a:pPr marL="0" indent="0" algn="ctr">
              <a:buNone/>
            </a:pPr>
            <a:r>
              <a:rPr lang="pt-BR" dirty="0"/>
              <a:t>I think, </a:t>
            </a:r>
            <a:r>
              <a:rPr lang="pt-BR" sz="1800" b="1" dirty="0"/>
              <a:t>THEREFORE</a:t>
            </a:r>
            <a:r>
              <a:rPr lang="pt-BR" dirty="0"/>
              <a:t> I am.</a:t>
            </a:r>
          </a:p>
          <a:p>
            <a:pPr marL="0" indent="0" algn="ctr">
              <a:buNone/>
            </a:pPr>
            <a:r>
              <a:rPr lang="pt-BR" dirty="0"/>
              <a:t>Eu penso, </a:t>
            </a:r>
            <a:r>
              <a:rPr lang="pt-BR" b="1" dirty="0"/>
              <a:t>logo</a:t>
            </a:r>
            <a:r>
              <a:rPr lang="pt-BR" dirty="0"/>
              <a:t> existo.</a:t>
            </a:r>
          </a:p>
          <a:p>
            <a:pPr marL="0" indent="0">
              <a:buNone/>
            </a:pPr>
            <a:r>
              <a:rPr lang="pt-BR" dirty="0"/>
              <a:t>Ou seja:  eu existir é consequência de eu pensar.</a:t>
            </a:r>
          </a:p>
          <a:p>
            <a:pPr marL="0" indent="0">
              <a:buNone/>
            </a:pPr>
            <a:r>
              <a:rPr lang="pt-BR" dirty="0"/>
              <a:t>São exemplos de conectores desse tipo: </a:t>
            </a:r>
            <a:r>
              <a:rPr lang="pt-BR" b="1" dirty="0"/>
              <a:t>therefore, so, thus, that</a:t>
            </a:r>
            <a:r>
              <a:rPr lang="pt-BR" dirty="0"/>
              <a:t>, consequently, since, because e termos como: for this(that) reason, as a result, for this.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1446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327CFF-34CD-4AD0-9CE3-EC9CBA445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579968"/>
          </a:xfrm>
        </p:spPr>
        <p:txBody>
          <a:bodyPr>
            <a:normAutofit/>
          </a:bodyPr>
          <a:lstStyle/>
          <a:p>
            <a:r>
              <a:rPr lang="pt-BR" sz="2400" dirty="0"/>
              <a:t>Exemplos de conectores de causa/consequência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367FE7-F4CF-4A81-B765-E00A2DA81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666875"/>
            <a:ext cx="9601196" cy="42089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>
                <a:latin typeface="+mj-lt"/>
              </a:rPr>
              <a:t># </a:t>
            </a:r>
            <a:r>
              <a:rPr lang="en-US" sz="2000" dirty="0">
                <a:solidFill>
                  <a:srgbClr val="1C1D1E"/>
                </a:solidFill>
                <a:effectLst/>
                <a:latin typeface="+mj-lt"/>
                <a:ea typeface="Calibri" panose="020F0502020204030204" pitchFamily="34" charset="0"/>
              </a:rPr>
              <a:t>Additional processing is </a:t>
            </a:r>
            <a:r>
              <a:rPr lang="en-US" sz="1600" b="1" dirty="0">
                <a:solidFill>
                  <a:srgbClr val="1C1D1E"/>
                </a:solidFill>
                <a:effectLst/>
                <a:latin typeface="+mj-lt"/>
                <a:ea typeface="Calibri" panose="020F0502020204030204" pitchFamily="34" charset="0"/>
              </a:rPr>
              <a:t>THUS</a:t>
            </a:r>
            <a:r>
              <a:rPr lang="en-US" sz="2000" dirty="0">
                <a:solidFill>
                  <a:srgbClr val="1C1D1E"/>
                </a:solidFill>
                <a:effectLst/>
                <a:latin typeface="+mj-lt"/>
                <a:ea typeface="Calibri" panose="020F0502020204030204" pitchFamily="34" charset="0"/>
              </a:rPr>
              <a:t> needed to generate values above/below the highest/lowest records.</a:t>
            </a:r>
            <a:endParaRPr lang="pt-BR" sz="2000" dirty="0">
              <a:latin typeface="+mj-lt"/>
            </a:endParaRPr>
          </a:p>
          <a:p>
            <a:pPr marL="0" indent="0">
              <a:buNone/>
            </a:pPr>
            <a:r>
              <a:rPr lang="pt-BR" sz="2000" dirty="0"/>
              <a:t>- Processamento adicional é </a:t>
            </a:r>
            <a:r>
              <a:rPr lang="pt-BR" sz="2000" b="1" dirty="0"/>
              <a:t>assim</a:t>
            </a:r>
            <a:r>
              <a:rPr lang="pt-BR" sz="2000" dirty="0"/>
              <a:t> necessário para gerar valores acima/abaixo do mais alto/mais baixo registros.</a:t>
            </a:r>
            <a:endParaRPr lang="pt-BR" sz="2000" b="1" dirty="0"/>
          </a:p>
          <a:p>
            <a:pPr marL="0" indent="0">
              <a:buNone/>
            </a:pPr>
            <a:r>
              <a:rPr lang="pt-BR" sz="2000" dirty="0"/>
              <a:t>O </a:t>
            </a:r>
            <a:r>
              <a:rPr lang="pt-BR" sz="2000" b="1" dirty="0"/>
              <a:t>assim </a:t>
            </a:r>
            <a:r>
              <a:rPr lang="pt-BR" sz="2000" dirty="0"/>
              <a:t>pode ser substituído por</a:t>
            </a:r>
            <a:r>
              <a:rPr lang="pt-BR" sz="2000" b="1" dirty="0"/>
              <a:t> “por isso” </a:t>
            </a:r>
            <a:r>
              <a:rPr lang="pt-BR" sz="2000" dirty="0"/>
              <a:t>(fica mais clara a função de causa)</a:t>
            </a:r>
          </a:p>
          <a:p>
            <a:pPr marL="0" indent="0">
              <a:buNone/>
            </a:pPr>
            <a:r>
              <a:rPr lang="pt-BR" sz="2000" dirty="0"/>
              <a:t># </a:t>
            </a:r>
            <a:r>
              <a:rPr lang="en-US" sz="2000" dirty="0">
                <a:solidFill>
                  <a:srgbClr val="333333"/>
                </a:solidFill>
              </a:rPr>
              <a:t>T</a:t>
            </a:r>
            <a:r>
              <a:rPr lang="en-US" sz="2000" dirty="0">
                <a:solidFill>
                  <a:srgbClr val="333333"/>
                </a:solidFill>
                <a:effectLst/>
                <a:ea typeface="Calibri" panose="020F0502020204030204" pitchFamily="34" charset="0"/>
              </a:rPr>
              <a:t>hey did not take into account bathymetric data </a:t>
            </a:r>
            <a:r>
              <a:rPr lang="en-US" b="1" dirty="0">
                <a:solidFill>
                  <a:srgbClr val="333333"/>
                </a:solidFill>
                <a:effectLst/>
                <a:ea typeface="Calibri" panose="020F0502020204030204" pitchFamily="34" charset="0"/>
              </a:rPr>
              <a:t>since</a:t>
            </a:r>
            <a:r>
              <a:rPr lang="en-US" sz="2000" dirty="0">
                <a:solidFill>
                  <a:srgbClr val="333333"/>
                </a:solidFill>
                <a:effectLst/>
                <a:ea typeface="Calibri" panose="020F0502020204030204" pitchFamily="34" charset="0"/>
              </a:rPr>
              <a:t> a fixed wave travel speed was used.</a:t>
            </a:r>
            <a:endParaRPr lang="pt-BR" sz="2000" dirty="0"/>
          </a:p>
          <a:p>
            <a:pPr marL="0" indent="0">
              <a:buNone/>
            </a:pPr>
            <a:r>
              <a:rPr lang="en-US" sz="2000" dirty="0"/>
              <a:t>- </a:t>
            </a:r>
            <a:r>
              <a:rPr lang="en-US" sz="2000" dirty="0" err="1"/>
              <a:t>Eles</a:t>
            </a:r>
            <a:r>
              <a:rPr lang="en-US" sz="2000" dirty="0"/>
              <a:t> </a:t>
            </a:r>
            <a:r>
              <a:rPr lang="en-US" sz="2000" dirty="0" err="1"/>
              <a:t>não</a:t>
            </a:r>
            <a:r>
              <a:rPr lang="en-US" sz="2000" dirty="0"/>
              <a:t> </a:t>
            </a:r>
            <a:r>
              <a:rPr lang="en-US" sz="2000" dirty="0" err="1"/>
              <a:t>levaram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conta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dados </a:t>
            </a:r>
            <a:r>
              <a:rPr lang="en-US" sz="2000" dirty="0" err="1"/>
              <a:t>batimétricos</a:t>
            </a:r>
            <a:r>
              <a:rPr lang="en-US" sz="2000" dirty="0"/>
              <a:t> </a:t>
            </a:r>
            <a:r>
              <a:rPr lang="en-US" sz="2000" b="1" dirty="0" err="1"/>
              <a:t>já</a:t>
            </a:r>
            <a:r>
              <a:rPr lang="en-US" sz="2000" b="1" dirty="0"/>
              <a:t> que</a:t>
            </a:r>
            <a:r>
              <a:rPr lang="en-US" sz="2000" dirty="0"/>
              <a:t>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/>
              <a:t>velocidade</a:t>
            </a:r>
            <a:r>
              <a:rPr lang="en-US" sz="2000" dirty="0"/>
              <a:t> </a:t>
            </a:r>
            <a:r>
              <a:rPr lang="en-US" sz="2000" dirty="0" err="1"/>
              <a:t>fixa</a:t>
            </a:r>
            <a:r>
              <a:rPr lang="en-US" sz="2000" dirty="0"/>
              <a:t> da </a:t>
            </a:r>
            <a:r>
              <a:rPr lang="en-US" sz="2000" dirty="0" err="1"/>
              <a:t>viagem</a:t>
            </a:r>
            <a:r>
              <a:rPr lang="en-US" sz="2000" dirty="0"/>
              <a:t> da </a:t>
            </a:r>
            <a:r>
              <a:rPr lang="en-US" sz="2000" dirty="0" err="1"/>
              <a:t>onda</a:t>
            </a:r>
            <a:r>
              <a:rPr lang="en-US" sz="2000" dirty="0"/>
              <a:t> </a:t>
            </a:r>
            <a:r>
              <a:rPr lang="en-US" sz="2000" dirty="0" err="1"/>
              <a:t>foi</a:t>
            </a:r>
            <a:r>
              <a:rPr lang="en-US" sz="2000" dirty="0"/>
              <a:t> </a:t>
            </a:r>
            <a:r>
              <a:rPr lang="en-US" sz="2000" dirty="0" err="1"/>
              <a:t>usada</a:t>
            </a:r>
            <a:r>
              <a:rPr lang="en-US" sz="2000" dirty="0"/>
              <a:t>.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O </a:t>
            </a:r>
            <a:r>
              <a:rPr lang="pt-BR" sz="2000" b="1" dirty="0"/>
              <a:t>já que </a:t>
            </a:r>
            <a:r>
              <a:rPr lang="pt-BR" sz="2000" dirty="0"/>
              <a:t> pode ser substituído por </a:t>
            </a:r>
            <a:r>
              <a:rPr lang="pt-BR" sz="2000" b="1" dirty="0"/>
              <a:t>“porque”</a:t>
            </a:r>
            <a:r>
              <a:rPr lang="pt-B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1469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EAAE35-A4D1-4DC0-81C0-DFB0C771A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675218"/>
          </a:xfrm>
        </p:spPr>
        <p:txBody>
          <a:bodyPr>
            <a:normAutofit/>
          </a:bodyPr>
          <a:lstStyle/>
          <a:p>
            <a:r>
              <a:rPr lang="pt-BR" sz="2400" dirty="0"/>
              <a:t>Conectores Lógicos ou Marcadores Discursivos (2ª Parte)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0ACAB7-F84E-48FB-9A6A-85B94010A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657351"/>
            <a:ext cx="9601196" cy="421851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/>
              <a:t>Tempo ou Sequência Lógica</a:t>
            </a:r>
          </a:p>
          <a:p>
            <a:pPr marL="0" indent="0">
              <a:buNone/>
            </a:pPr>
            <a:endParaRPr lang="pt-BR" sz="1600" b="1" dirty="0"/>
          </a:p>
          <a:p>
            <a:pPr marL="0" indent="0">
              <a:buNone/>
            </a:pPr>
            <a:r>
              <a:rPr lang="pt-BR" dirty="0"/>
              <a:t>A temporalidade é uma necessidade constante em nossa comunicação para que possamos elaborar um discurso coerente. Vejamos:</a:t>
            </a:r>
          </a:p>
          <a:p>
            <a:pPr marL="0" indent="0">
              <a:buNone/>
            </a:pPr>
            <a:r>
              <a:rPr lang="pt-BR" sz="2000" dirty="0"/>
              <a:t># </a:t>
            </a:r>
            <a:r>
              <a:rPr lang="en-US" sz="2000" dirty="0"/>
              <a:t>The soil cores were homogenized by manual mixing and stored in polyethylene bags </a:t>
            </a:r>
            <a:r>
              <a:rPr lang="en-US" sz="2000" b="1" dirty="0"/>
              <a:t>before </a:t>
            </a:r>
            <a:r>
              <a:rPr lang="en-US" sz="2000" dirty="0"/>
              <a:t>laboratory analysis. 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- Os núcleos de solo foram homogeneizados por mistura manual e armazenados em sacos de polietileno </a:t>
            </a:r>
            <a:r>
              <a:rPr lang="pt-BR" sz="2000" b="1" dirty="0"/>
              <a:t>antes</a:t>
            </a:r>
            <a:r>
              <a:rPr lang="pt-BR" sz="2000" dirty="0"/>
              <a:t> das análises laboratoriais.</a:t>
            </a:r>
          </a:p>
          <a:p>
            <a:pPr marL="0" indent="0">
              <a:buNone/>
            </a:pPr>
            <a:r>
              <a:rPr lang="pt-BR" sz="2000" dirty="0"/>
              <a:t>São exemplos de conectores de tempo: </a:t>
            </a:r>
            <a:r>
              <a:rPr lang="pt-BR" sz="2000" b="1" dirty="0"/>
              <a:t>before, after</a:t>
            </a:r>
            <a:r>
              <a:rPr lang="pt-BR" sz="2000" dirty="0"/>
              <a:t>, first(ly), sencond(ly), </a:t>
            </a:r>
            <a:r>
              <a:rPr lang="pt-BR" sz="2000" b="1" dirty="0"/>
              <a:t>then, next</a:t>
            </a:r>
            <a:r>
              <a:rPr lang="pt-BR" sz="2000" dirty="0"/>
              <a:t>, formely, nowadays, currently, </a:t>
            </a:r>
            <a:r>
              <a:rPr lang="pt-BR" sz="2000" b="1" dirty="0"/>
              <a:t>while, when, finally</a:t>
            </a:r>
            <a:r>
              <a:rPr lang="pt-BR" sz="2000" dirty="0"/>
              <a:t>, e expressões como the former, the latter, prior to, after that, to start with.</a:t>
            </a:r>
          </a:p>
        </p:txBody>
      </p:sp>
    </p:spTree>
    <p:extLst>
      <p:ext uri="{BB962C8B-B14F-4D97-AF65-F5344CB8AC3E}">
        <p14:creationId xmlns:p14="http://schemas.microsoft.com/office/powerpoint/2010/main" val="552081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D2CD8-09C8-40E7-94B6-47EB10DAD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694268"/>
          </a:xfrm>
        </p:spPr>
        <p:txBody>
          <a:bodyPr>
            <a:normAutofit/>
          </a:bodyPr>
          <a:lstStyle/>
          <a:p>
            <a:r>
              <a:rPr lang="pt-BR" sz="2400" dirty="0"/>
              <a:t>Vamos examinar agora os conectores que agem para dar </a:t>
            </a:r>
            <a:r>
              <a:rPr lang="pt-BR" sz="2400" b="1" dirty="0"/>
              <a:t>ÊNFASE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1175EF-8750-4D89-8F66-79526500D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771650"/>
            <a:ext cx="9601196" cy="410421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Exemplo:</a:t>
            </a:r>
          </a:p>
          <a:p>
            <a:pPr marL="0" indent="0">
              <a:buNone/>
            </a:pPr>
            <a:r>
              <a:rPr lang="pt-BR" dirty="0"/>
              <a:t># </a:t>
            </a:r>
            <a:r>
              <a:rPr lang="en-US" b="1" dirty="0"/>
              <a:t>Indeed</a:t>
            </a:r>
            <a:r>
              <a:rPr lang="en-US" dirty="0"/>
              <a:t>, recent reports on the utilization of ISEs for analysis of water </a:t>
            </a:r>
          </a:p>
          <a:p>
            <a:pPr marL="0" indent="0">
              <a:buNone/>
            </a:pPr>
            <a:r>
              <a:rPr lang="en-US" dirty="0"/>
              <a:t>clearly indicate its importance in environmental analysis.      </a:t>
            </a:r>
          </a:p>
          <a:p>
            <a:pPr marL="0" indent="0">
              <a:buNone/>
            </a:pPr>
            <a:r>
              <a:rPr lang="pt-BR" dirty="0"/>
              <a:t>- </a:t>
            </a:r>
            <a:r>
              <a:rPr lang="pt-BR" b="1" dirty="0"/>
              <a:t>Na verdade</a:t>
            </a:r>
            <a:r>
              <a:rPr lang="pt-BR" dirty="0"/>
              <a:t>, relatórios recentes sobre a utilização de ISEs para análise de água indicam claramente sua importância na análise ambiental.</a:t>
            </a:r>
          </a:p>
          <a:p>
            <a:pPr marL="0" indent="0">
              <a:buNone/>
            </a:pPr>
            <a:r>
              <a:rPr lang="pt-BR" dirty="0"/>
              <a:t>São exemplo de conectores de ênfase: </a:t>
            </a:r>
            <a:r>
              <a:rPr lang="pt-BR" b="1" dirty="0"/>
              <a:t>indeed, actually</a:t>
            </a:r>
            <a:r>
              <a:rPr lang="pt-BR" dirty="0"/>
              <a:t>, e expressões como as a matter of fact, e  in fact.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CFCD60-9F38-40A6-8F65-6BCFA1F5A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4989CD4-B6D5-409F-A591-40604414C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CB46C3F-02CF-425E-905C-15A70FA4C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522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3CF2AE-5983-4FD7-8F9F-BC4B11581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722843"/>
          </a:xfrm>
        </p:spPr>
        <p:txBody>
          <a:bodyPr>
            <a:normAutofit/>
          </a:bodyPr>
          <a:lstStyle/>
          <a:p>
            <a:r>
              <a:rPr lang="pt-BR" sz="2400" dirty="0"/>
              <a:t>São importantes também os conectores de </a:t>
            </a:r>
            <a:r>
              <a:rPr lang="pt-BR" sz="2400" b="1" dirty="0"/>
              <a:t>COMPARAÇÂO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E32171-6DF6-4FC4-83F9-F7F28FEDE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847849"/>
            <a:ext cx="9601196" cy="4200525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Praticamente toda vez que vamos explicar algum conceito ou objeto, nós fazemos uso de comparações, senão vejamos:</a:t>
            </a:r>
          </a:p>
          <a:p>
            <a:pPr marL="0" indent="0">
              <a:buNone/>
            </a:pPr>
            <a:r>
              <a:rPr lang="pt-BR" sz="2000" dirty="0"/>
              <a:t># </a:t>
            </a:r>
            <a:r>
              <a:rPr lang="en-US" sz="2000" dirty="0"/>
              <a:t>One additional monitoring well sample from the lower valley is </a:t>
            </a:r>
            <a:r>
              <a:rPr lang="en-US" sz="2000" b="1" dirty="0"/>
              <a:t>likewise</a:t>
            </a:r>
            <a:r>
              <a:rPr lang="en-US" sz="2000" dirty="0"/>
              <a:t> affected by magmatic He.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- Uma amostra adicional do poço de monitoramento do vale inferior  é </a:t>
            </a:r>
            <a:r>
              <a:rPr lang="pt-BR" sz="2000" b="1" dirty="0"/>
              <a:t>da mesma forma </a:t>
            </a:r>
            <a:r>
              <a:rPr lang="pt-BR" sz="2000" dirty="0"/>
              <a:t>afetada por He (hélio) magmático.</a:t>
            </a:r>
          </a:p>
          <a:p>
            <a:pPr marL="0" indent="0">
              <a:buNone/>
            </a:pPr>
            <a:r>
              <a:rPr lang="pt-BR" dirty="0"/>
              <a:t># </a:t>
            </a:r>
            <a:r>
              <a:rPr lang="en-US" sz="2000" dirty="0"/>
              <a:t>The </a:t>
            </a:r>
            <a:r>
              <a:rPr lang="en-US" sz="2000" b="1" dirty="0"/>
              <a:t>similarly</a:t>
            </a:r>
            <a:r>
              <a:rPr lang="en-US" sz="2000" dirty="0"/>
              <a:t> isolated ACN32+ shows three distinct nitrile stretching bands at C≡N=2252 2284/2317 cm−1.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- O ACN32 + isolado </a:t>
            </a:r>
            <a:r>
              <a:rPr lang="pt-BR" sz="2000" b="1" dirty="0"/>
              <a:t>de forma semelhante </a:t>
            </a:r>
            <a:r>
              <a:rPr lang="pt-BR" sz="2000" dirty="0"/>
              <a:t>mostra três bandas distintas de alongamento de nitrila em C≡N = 2252/2284/2317 cm − 1.</a:t>
            </a:r>
          </a:p>
        </p:txBody>
      </p:sp>
    </p:spTree>
    <p:extLst>
      <p:ext uri="{BB962C8B-B14F-4D97-AF65-F5344CB8AC3E}">
        <p14:creationId xmlns:p14="http://schemas.microsoft.com/office/powerpoint/2010/main" val="3536706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D12A59-0984-4D61-916C-398057BF9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265768"/>
          </a:xfrm>
        </p:spPr>
        <p:txBody>
          <a:bodyPr>
            <a:noAutofit/>
          </a:bodyPr>
          <a:lstStyle/>
          <a:p>
            <a:r>
              <a:rPr lang="pt-BR" sz="3200" dirty="0"/>
              <a:t>Ainda existem os conectores de </a:t>
            </a:r>
            <a:r>
              <a:rPr lang="pt-BR" sz="3200" b="1" dirty="0"/>
              <a:t>exemplificação</a:t>
            </a:r>
            <a:r>
              <a:rPr lang="pt-BR" sz="3200" dirty="0"/>
              <a:t> e os </a:t>
            </a:r>
            <a:br>
              <a:rPr lang="pt-BR" sz="3200" dirty="0"/>
            </a:br>
            <a:r>
              <a:rPr lang="pt-BR" sz="3200" dirty="0"/>
              <a:t>de </a:t>
            </a:r>
            <a:r>
              <a:rPr lang="pt-BR" sz="3200" b="1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5116E1-896E-407C-9844-4CF03E56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352674"/>
            <a:ext cx="9601196" cy="3523193"/>
          </a:xfrm>
        </p:spPr>
        <p:txBody>
          <a:bodyPr/>
          <a:lstStyle/>
          <a:p>
            <a:endParaRPr lang="pt-BR" dirty="0"/>
          </a:p>
          <a:p>
            <a:r>
              <a:rPr lang="pt-BR" dirty="0"/>
              <a:t>Os de </a:t>
            </a:r>
            <a:r>
              <a:rPr lang="pt-BR" b="1" dirty="0"/>
              <a:t>exemplificação</a:t>
            </a:r>
            <a:r>
              <a:rPr lang="pt-BR" dirty="0"/>
              <a:t> mais comuns são: </a:t>
            </a:r>
            <a:r>
              <a:rPr lang="pt-BR" b="1" dirty="0"/>
              <a:t>for example</a:t>
            </a:r>
            <a:r>
              <a:rPr lang="pt-BR" dirty="0"/>
              <a:t>, </a:t>
            </a:r>
            <a:r>
              <a:rPr lang="pt-BR" b="1" dirty="0"/>
              <a:t>for instance</a:t>
            </a:r>
            <a:r>
              <a:rPr lang="pt-BR" dirty="0"/>
              <a:t>, such as, </a:t>
            </a:r>
            <a:r>
              <a:rPr lang="pt-BR" b="1" dirty="0"/>
              <a:t>like</a:t>
            </a:r>
            <a:r>
              <a:rPr lang="pt-BR" dirty="0"/>
              <a:t>, that is, e.g.</a:t>
            </a:r>
          </a:p>
          <a:p>
            <a:endParaRPr lang="pt-BR" dirty="0"/>
          </a:p>
          <a:p>
            <a:r>
              <a:rPr lang="pt-BR" dirty="0"/>
              <a:t>E os comuns de </a:t>
            </a:r>
            <a:r>
              <a:rPr lang="pt-BR" b="1" dirty="0"/>
              <a:t>conclusão</a:t>
            </a:r>
            <a:r>
              <a:rPr lang="pt-BR" dirty="0"/>
              <a:t>: in short, </a:t>
            </a:r>
            <a:r>
              <a:rPr lang="pt-BR" b="1" dirty="0"/>
              <a:t>in conclusion, in summary</a:t>
            </a:r>
            <a:r>
              <a:rPr lang="pt-BR" dirty="0"/>
              <a:t>, </a:t>
            </a:r>
            <a:r>
              <a:rPr lang="pt-BR" b="1" dirty="0"/>
              <a:t>finally</a:t>
            </a:r>
            <a:r>
              <a:rPr lang="pt-BR" dirty="0"/>
              <a:t>, to sum up.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30874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906CCF-9C03-44A0-810B-31F1EE307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646643"/>
          </a:xfrm>
        </p:spPr>
        <p:txBody>
          <a:bodyPr>
            <a:normAutofit/>
          </a:bodyPr>
          <a:lstStyle/>
          <a:p>
            <a:r>
              <a:rPr lang="pt-BR" sz="3600" dirty="0"/>
              <a:t>Exercícios de fixação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158620-1CD9-4C38-B474-D091554F0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743075"/>
            <a:ext cx="9601196" cy="4410075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1- Leia o parágrafo e informe suas funções dos CL sublinhados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en-US" sz="2000" u="sng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However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it has </a:t>
            </a:r>
            <a:r>
              <a:rPr lang="en-US" sz="2000" u="sng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also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intensified the abuse of social networking platforms, which contributes to a rise in criminal activities by distributing violence, sharing abuse, threatening others, </a:t>
            </a:r>
            <a:r>
              <a:rPr lang="en-US" sz="2000" u="sng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and thus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increasing questionable internet content.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____________________  ______________________  ___________________</a:t>
            </a:r>
          </a:p>
          <a:p>
            <a:pPr marL="0" indent="0">
              <a:buNone/>
            </a:pP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2- Informe brevemente o que nos diz o parágrafo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448879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9CE9B3-8587-41C4-BF22-E8C3479FA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418043"/>
          </a:xfrm>
        </p:spPr>
        <p:txBody>
          <a:bodyPr>
            <a:normAutofit fontScale="90000"/>
          </a:bodyPr>
          <a:lstStyle/>
          <a:p>
            <a:pPr algn="l"/>
            <a:r>
              <a:rPr lang="pt-BR" sz="3000" dirty="0"/>
              <a:t>Cont.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98C976-F09E-40A9-A88F-13F086385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333500"/>
            <a:ext cx="9601196" cy="47625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>3- Leia o parágrafo, sublinhe os conectores lógicos, cognatos e falso cognatos.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Earthworms</a:t>
            </a:r>
            <a:r>
              <a:rPr lang="en-US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(minhocas)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 need the minimum care requirement, but a regular schedule has to be made for them and a consistency condition. Thus, the vermiculture smart farming kit seems to support the automatic monitoring and environmental management such as temperature, humidity, moisture, and watering.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Therefore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the farmers are able to arrange along with saving time management and increase a number of earthworm composting </a:t>
            </a:r>
            <a:r>
              <a:rPr lang="en-US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(compostagem)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 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</a:rPr>
              <a:t>4 - Therefore é um CL de causa ou consequência. Sabendo disso explique como se dá a relação de causa e efeito no parágrafo.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</a:rPr>
              <a:t>_________________________________________________________________________________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</a:rPr>
              <a:t>5 - O que o kit de minhocultura é útil para _______________________________________________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_________________________________________________________________________________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</a:rPr>
              <a:t>6 - Esse texto está relacionado com qual das engenharias oferecidas na UFRPE/UABJ? ____________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Siga o link para descobrir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http://www.temjournal.com/content/94/TEMJournalNovember2020_1330_1337.pdf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0784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D1BB2-084F-4C33-8F43-10119DE8D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781051"/>
            <a:ext cx="9601196" cy="381000"/>
          </a:xfrm>
        </p:spPr>
        <p:txBody>
          <a:bodyPr>
            <a:normAutofit fontScale="90000"/>
          </a:bodyPr>
          <a:lstStyle/>
          <a:p>
            <a:r>
              <a:rPr lang="pt-BR" dirty="0"/>
              <a:t>Veja aqui as diversas conjunções ou termos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B35988-DECA-4046-97DB-D0A426285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276351"/>
            <a:ext cx="9601196" cy="4943474"/>
          </a:xfrm>
        </p:spPr>
        <p:txBody>
          <a:bodyPr>
            <a:normAutofit/>
          </a:bodyPr>
          <a:lstStyle/>
          <a:p>
            <a:r>
              <a:rPr lang="pt-BR" dirty="0"/>
              <a:t>Conjunções de </a:t>
            </a:r>
            <a:r>
              <a:rPr lang="pt-BR" b="1" dirty="0"/>
              <a:t>causa ou consequência</a:t>
            </a:r>
            <a:r>
              <a:rPr lang="pt-BR" dirty="0"/>
              <a:t>: So, </a:t>
            </a:r>
            <a:r>
              <a:rPr lang="pt-BR" dirty="0" err="1"/>
              <a:t>Therefore</a:t>
            </a:r>
            <a:r>
              <a:rPr lang="pt-BR" dirty="0"/>
              <a:t>, </a:t>
            </a:r>
            <a:r>
              <a:rPr lang="pt-BR" dirty="0" err="1"/>
              <a:t>Thus</a:t>
            </a:r>
            <a:r>
              <a:rPr lang="pt-BR" dirty="0"/>
              <a:t>, </a:t>
            </a:r>
            <a:r>
              <a:rPr lang="pt-BR" dirty="0" err="1"/>
              <a:t>Because</a:t>
            </a:r>
            <a:r>
              <a:rPr lang="pt-BR" dirty="0"/>
              <a:t> of this/that, For this/that </a:t>
            </a:r>
            <a:r>
              <a:rPr lang="pt-BR" dirty="0" err="1"/>
              <a:t>reason</a:t>
            </a:r>
            <a:r>
              <a:rPr lang="pt-BR" dirty="0"/>
              <a:t>, </a:t>
            </a:r>
            <a:r>
              <a:rPr lang="pt-BR" dirty="0" err="1"/>
              <a:t>Consequently</a:t>
            </a:r>
            <a:r>
              <a:rPr lang="pt-BR" dirty="0"/>
              <a:t>, </a:t>
            </a:r>
            <a:r>
              <a:rPr lang="pt-BR" dirty="0" err="1"/>
              <a:t>Since</a:t>
            </a:r>
            <a:r>
              <a:rPr lang="pt-BR" dirty="0"/>
              <a:t>, </a:t>
            </a:r>
            <a:r>
              <a:rPr lang="pt-BR" dirty="0" err="1"/>
              <a:t>Because</a:t>
            </a:r>
            <a:r>
              <a:rPr lang="pt-BR" dirty="0"/>
              <a:t>, So that.</a:t>
            </a:r>
          </a:p>
          <a:p>
            <a:r>
              <a:rPr lang="pt-BR" dirty="0"/>
              <a:t>Conjunções de </a:t>
            </a:r>
            <a:r>
              <a:rPr lang="pt-BR" b="1" dirty="0"/>
              <a:t>tempo ou sequência temporal</a:t>
            </a:r>
            <a:r>
              <a:rPr lang="pt-BR" dirty="0"/>
              <a:t>: </a:t>
            </a:r>
            <a:r>
              <a:rPr lang="pt-BR" dirty="0" err="1"/>
              <a:t>First</a:t>
            </a:r>
            <a:r>
              <a:rPr lang="pt-BR" dirty="0"/>
              <a:t> ou </a:t>
            </a:r>
            <a:r>
              <a:rPr lang="pt-BR" dirty="0" err="1"/>
              <a:t>Firstily</a:t>
            </a:r>
            <a:r>
              <a:rPr lang="pt-BR" dirty="0"/>
              <a:t>, </a:t>
            </a:r>
            <a:r>
              <a:rPr lang="pt-BR" dirty="0" err="1"/>
              <a:t>Second</a:t>
            </a:r>
            <a:r>
              <a:rPr lang="pt-BR" dirty="0"/>
              <a:t>(</a:t>
            </a:r>
            <a:r>
              <a:rPr lang="pt-BR" dirty="0" err="1"/>
              <a:t>ly</a:t>
            </a:r>
            <a:r>
              <a:rPr lang="pt-BR" dirty="0"/>
              <a:t>), </a:t>
            </a:r>
            <a:r>
              <a:rPr lang="pt-BR" dirty="0" err="1"/>
              <a:t>Third</a:t>
            </a:r>
            <a:r>
              <a:rPr lang="pt-BR" dirty="0"/>
              <a:t>(</a:t>
            </a:r>
            <a:r>
              <a:rPr lang="pt-BR" dirty="0" err="1"/>
              <a:t>ly</a:t>
            </a:r>
            <a:r>
              <a:rPr lang="pt-BR" dirty="0"/>
              <a:t>), </a:t>
            </a:r>
            <a:r>
              <a:rPr lang="pt-BR" dirty="0" err="1"/>
              <a:t>Then</a:t>
            </a:r>
            <a:r>
              <a:rPr lang="pt-BR" dirty="0"/>
              <a:t>, Next, </a:t>
            </a:r>
            <a:r>
              <a:rPr lang="pt-BR" dirty="0" err="1"/>
              <a:t>After</a:t>
            </a:r>
            <a:r>
              <a:rPr lang="pt-BR" dirty="0"/>
              <a:t> that, </a:t>
            </a:r>
            <a:r>
              <a:rPr lang="pt-BR" dirty="0" err="1"/>
              <a:t>Afterwards</a:t>
            </a:r>
            <a:r>
              <a:rPr lang="pt-BR" dirty="0"/>
              <a:t>, </a:t>
            </a:r>
            <a:r>
              <a:rPr lang="pt-BR" dirty="0" err="1"/>
              <a:t>Finally</a:t>
            </a:r>
            <a:r>
              <a:rPr lang="pt-BR" dirty="0"/>
              <a:t>, </a:t>
            </a:r>
            <a:r>
              <a:rPr lang="pt-BR" dirty="0" err="1"/>
              <a:t>Formely</a:t>
            </a:r>
            <a:r>
              <a:rPr lang="pt-BR" dirty="0"/>
              <a:t>, </a:t>
            </a:r>
            <a:r>
              <a:rPr lang="pt-BR" dirty="0" err="1"/>
              <a:t>Nowadays</a:t>
            </a:r>
            <a:r>
              <a:rPr lang="pt-BR" dirty="0"/>
              <a:t>, </a:t>
            </a:r>
            <a:r>
              <a:rPr lang="pt-BR" dirty="0" err="1"/>
              <a:t>Currently</a:t>
            </a:r>
            <a:r>
              <a:rPr lang="pt-BR" dirty="0"/>
              <a:t>, Before, Prior to, </a:t>
            </a:r>
            <a:r>
              <a:rPr lang="pt-BR" dirty="0" err="1"/>
              <a:t>After</a:t>
            </a:r>
            <a:r>
              <a:rPr lang="pt-BR" dirty="0"/>
              <a:t>, The </a:t>
            </a:r>
            <a:r>
              <a:rPr lang="pt-BR" dirty="0" err="1"/>
              <a:t>former</a:t>
            </a:r>
            <a:r>
              <a:rPr lang="pt-BR" dirty="0"/>
              <a:t>, The </a:t>
            </a:r>
            <a:r>
              <a:rPr lang="pt-BR" dirty="0" err="1"/>
              <a:t>latter</a:t>
            </a:r>
            <a:r>
              <a:rPr lang="pt-BR" dirty="0"/>
              <a:t>, When, While.</a:t>
            </a:r>
          </a:p>
          <a:p>
            <a:r>
              <a:rPr lang="pt-BR" dirty="0"/>
              <a:t>Conjunções de </a:t>
            </a:r>
            <a:r>
              <a:rPr lang="pt-BR" b="1" dirty="0"/>
              <a:t>exemplificação</a:t>
            </a:r>
            <a:r>
              <a:rPr lang="pt-BR" dirty="0"/>
              <a:t>: For </a:t>
            </a:r>
            <a:r>
              <a:rPr lang="pt-BR" dirty="0" err="1"/>
              <a:t>example</a:t>
            </a:r>
            <a:r>
              <a:rPr lang="pt-BR" dirty="0"/>
              <a:t>, For </a:t>
            </a:r>
            <a:r>
              <a:rPr lang="pt-BR" dirty="0" err="1"/>
              <a:t>instance</a:t>
            </a:r>
            <a:r>
              <a:rPr lang="pt-BR" dirty="0"/>
              <a:t>, e.g., i.e., </a:t>
            </a:r>
            <a:r>
              <a:rPr lang="pt-BR" dirty="0" err="1"/>
              <a:t>Such</a:t>
            </a:r>
            <a:r>
              <a:rPr lang="pt-BR" dirty="0"/>
              <a:t> as, Like</a:t>
            </a:r>
            <a:r>
              <a:rPr lang="pt-BR"/>
              <a:t>, That </a:t>
            </a:r>
            <a:r>
              <a:rPr lang="pt-BR" dirty="0"/>
              <a:t>is.</a:t>
            </a:r>
          </a:p>
          <a:p>
            <a:r>
              <a:rPr lang="pt-BR" dirty="0"/>
              <a:t>Conjunções de </a:t>
            </a:r>
            <a:r>
              <a:rPr lang="pt-BR" b="1" dirty="0"/>
              <a:t>ênfase</a:t>
            </a:r>
            <a:r>
              <a:rPr lang="pt-BR" dirty="0"/>
              <a:t>: As a </a:t>
            </a:r>
            <a:r>
              <a:rPr lang="pt-BR" dirty="0" err="1"/>
              <a:t>matter</a:t>
            </a:r>
            <a:r>
              <a:rPr lang="pt-BR" dirty="0"/>
              <a:t> of </a:t>
            </a:r>
            <a:r>
              <a:rPr lang="pt-BR" dirty="0" err="1"/>
              <a:t>fact</a:t>
            </a:r>
            <a:r>
              <a:rPr lang="pt-BR" dirty="0"/>
              <a:t>, In </a:t>
            </a:r>
            <a:r>
              <a:rPr lang="pt-BR" dirty="0" err="1"/>
              <a:t>fact</a:t>
            </a:r>
            <a:r>
              <a:rPr lang="pt-BR" dirty="0"/>
              <a:t>, </a:t>
            </a:r>
            <a:r>
              <a:rPr lang="pt-BR" dirty="0" err="1"/>
              <a:t>Actually</a:t>
            </a:r>
            <a:r>
              <a:rPr lang="pt-BR" dirty="0"/>
              <a:t>, </a:t>
            </a:r>
            <a:r>
              <a:rPr lang="pt-BR" dirty="0" err="1"/>
              <a:t>Indeed</a:t>
            </a:r>
            <a:r>
              <a:rPr lang="pt-BR" dirty="0"/>
              <a:t>.</a:t>
            </a:r>
          </a:p>
          <a:p>
            <a:r>
              <a:rPr lang="pt-BR" dirty="0"/>
              <a:t>Conjunções de </a:t>
            </a:r>
            <a:r>
              <a:rPr lang="pt-BR" b="1" dirty="0"/>
              <a:t>conclusão</a:t>
            </a:r>
            <a:r>
              <a:rPr lang="pt-BR" dirty="0"/>
              <a:t>: In short, In </a:t>
            </a:r>
            <a:r>
              <a:rPr lang="pt-BR" dirty="0" err="1"/>
              <a:t>conclusion</a:t>
            </a:r>
            <a:r>
              <a:rPr lang="pt-BR" dirty="0"/>
              <a:t>, In </a:t>
            </a:r>
            <a:r>
              <a:rPr lang="pt-BR" dirty="0" err="1"/>
              <a:t>summary</a:t>
            </a:r>
            <a:r>
              <a:rPr lang="pt-BR" dirty="0"/>
              <a:t>, </a:t>
            </a:r>
            <a:r>
              <a:rPr lang="pt-BR" dirty="0" err="1"/>
              <a:t>Finally</a:t>
            </a:r>
            <a:r>
              <a:rPr lang="pt-BR" dirty="0"/>
              <a:t>, To sum </a:t>
            </a:r>
            <a:r>
              <a:rPr lang="pt-BR" dirty="0" err="1"/>
              <a:t>up</a:t>
            </a:r>
            <a:r>
              <a:rPr lang="pt-BR" dirty="0"/>
              <a:t>.</a:t>
            </a:r>
          </a:p>
          <a:p>
            <a:r>
              <a:rPr lang="pt-BR" dirty="0"/>
              <a:t>Conjunção de </a:t>
            </a:r>
            <a:r>
              <a:rPr lang="pt-BR" b="1" dirty="0"/>
              <a:t>comparação</a:t>
            </a:r>
            <a:r>
              <a:rPr lang="pt-BR" dirty="0"/>
              <a:t>: </a:t>
            </a:r>
            <a:r>
              <a:rPr lang="pt-BR" dirty="0" err="1"/>
              <a:t>Likewise</a:t>
            </a:r>
            <a:r>
              <a:rPr lang="pt-BR" dirty="0"/>
              <a:t>, In the same </a:t>
            </a:r>
            <a:r>
              <a:rPr lang="pt-BR" dirty="0" err="1"/>
              <a:t>way</a:t>
            </a:r>
            <a:r>
              <a:rPr lang="pt-BR" dirty="0"/>
              <a:t>, </a:t>
            </a:r>
            <a:r>
              <a:rPr lang="pt-BR" dirty="0" err="1"/>
              <a:t>Similarly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92826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439</TotalTime>
  <Words>1238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Garamond</vt:lpstr>
      <vt:lpstr>Google Sans</vt:lpstr>
      <vt:lpstr>Orgânico</vt:lpstr>
      <vt:lpstr>Conectores Lógicos ou Marcadores Discursivos (2ª Parte)</vt:lpstr>
      <vt:lpstr>Conectores Lógicos ou Marcadores Discursivos (2ª Parte)</vt:lpstr>
      <vt:lpstr>Conectores Lógicos ou Marcadores Discursivos (2ª Parte)</vt:lpstr>
      <vt:lpstr>Conectores Lógicos ou Marcadores Discursivos (2ª Parte)</vt:lpstr>
      <vt:lpstr>Exemplos de conectores de causa/consequência</vt:lpstr>
      <vt:lpstr>Conectores Lógicos ou Marcadores Discursivos (2ª Parte)</vt:lpstr>
      <vt:lpstr>Vamos examinar agora os conectores que agem para dar ÊNFASE</vt:lpstr>
      <vt:lpstr>São importantes também os conectores de COMPARAÇÂO</vt:lpstr>
      <vt:lpstr>Ainda existem os conectores de exemplificação e os  de conclusão</vt:lpstr>
      <vt:lpstr>Exercícios de fixação</vt:lpstr>
      <vt:lpstr>Cont.</vt:lpstr>
      <vt:lpstr>Veja aqui as diversas conjunções ou termos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Conectores Lógicos ou Marcadores Discursivos (2ª Parte)</dc:title>
  <dc:creator>Saulo Brandão</dc:creator>
  <cp:lastModifiedBy>Saulo Brandão</cp:lastModifiedBy>
  <cp:revision>10</cp:revision>
  <dcterms:created xsi:type="dcterms:W3CDTF">2021-01-11T18:10:02Z</dcterms:created>
  <dcterms:modified xsi:type="dcterms:W3CDTF">2022-03-09T17:33:03Z</dcterms:modified>
</cp:coreProperties>
</file>