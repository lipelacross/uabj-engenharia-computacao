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Raleway Black"/>
      <p:bold r:id="rId23"/>
      <p:boldItalic r:id="rId24"/>
    </p:embeddedFont>
    <p:embeddedFont>
      <p:font typeface="Shadows Into Light"/>
      <p:regular r:id="rId25"/>
    </p:embeddedFont>
    <p:embeddedFont>
      <p:font typeface="Open Sans Light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RalewayBlack-boldItalic.fntdata"/><Relationship Id="rId23" Type="http://schemas.openxmlformats.org/officeDocument/2006/relationships/font" Target="fonts/RalewayBlac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Light-regular.fntdata"/><Relationship Id="rId25" Type="http://schemas.openxmlformats.org/officeDocument/2006/relationships/font" Target="fonts/ShadowsIntoLight-regular.fntdata"/><Relationship Id="rId28" Type="http://schemas.openxmlformats.org/officeDocument/2006/relationships/font" Target="fonts/OpenSansLight-italic.fntdata"/><Relationship Id="rId27" Type="http://schemas.openxmlformats.org/officeDocument/2006/relationships/font" Target="fonts/OpenSans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8638131054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8638131054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157acc057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157acc057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638131054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638131054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157acc057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157acc057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8638131054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8638131054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8638131054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8638131054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8638131054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8638131054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8638131054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8638131054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ee2311a9a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ee2311a9a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ee2311a9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ee2311a9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8638131054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8638131054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ee2311a9a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ee2311a9a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572258" y="1130675"/>
            <a:ext cx="8259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572250" y="3220225"/>
            <a:ext cx="825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4600"/>
              <a:buNone/>
              <a:defRPr sz="4600">
                <a:solidFill>
                  <a:srgbClr val="F3F3F3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 1">
  <p:cSld name="SECTION_HEADER_1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600"/>
              <a:buNone/>
              <a:defRPr sz="4600">
                <a:solidFill>
                  <a:srgbClr val="66666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None/>
              <a:defRPr sz="4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˗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74650" lvl="0" marL="457200" rtl="0" algn="ctr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 algn="ctr">
              <a:spcBef>
                <a:spcPts val="0"/>
              </a:spcBef>
              <a:spcAft>
                <a:spcPts val="0"/>
              </a:spcAft>
              <a:buSzPts val="1900"/>
              <a:buChar char="﹣"/>
              <a:defRPr/>
            </a:lvl2pPr>
            <a:lvl3pPr indent="-349250" lvl="2" marL="1371600" rtl="0" algn="ctr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 algn="ctr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>
              <a:spcBef>
                <a:spcPts val="0"/>
              </a:spcBef>
              <a:spcAft>
                <a:spcPts val="0"/>
              </a:spcAft>
              <a:buSzPts val="2300"/>
              <a:buFont typeface="Shadows Into Light"/>
              <a:buChar char="−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﹣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-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ᐧ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○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■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●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○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Font typeface="Shadows Into Light"/>
              <a:buChar char="■"/>
              <a:defRPr>
                <a:latin typeface="Shadows Into Light"/>
                <a:ea typeface="Shadows Into Light"/>
                <a:cs typeface="Shadows Into Light"/>
                <a:sym typeface="Shadows Into Light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﹣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ᐧ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−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﹣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ᐧ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−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﹣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-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ᐧ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74650" lvl="0" marL="457200" rtl="0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>
              <a:spcBef>
                <a:spcPts val="0"/>
              </a:spcBef>
              <a:spcAft>
                <a:spcPts val="0"/>
              </a:spcAft>
              <a:buSzPts val="1900"/>
              <a:buChar char="﹣"/>
              <a:defRPr/>
            </a:lvl2pPr>
            <a:lvl3pPr indent="-349250" lvl="2" marL="1371600" rtl="0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 algn="ctr">
              <a:spcBef>
                <a:spcPts val="0"/>
              </a:spcBef>
              <a:spcAft>
                <a:spcPts val="0"/>
              </a:spcAft>
              <a:buSzPts val="2300"/>
              <a:buChar char="−"/>
              <a:defRPr/>
            </a:lvl1pPr>
            <a:lvl2pPr indent="-349250" lvl="1" marL="914400" rtl="0" algn="ctr">
              <a:spcBef>
                <a:spcPts val="0"/>
              </a:spcBef>
              <a:spcAft>
                <a:spcPts val="0"/>
              </a:spcAft>
              <a:buSzPts val="1900"/>
              <a:buChar char="﹣"/>
              <a:defRPr/>
            </a:lvl2pPr>
            <a:lvl3pPr indent="-349250" lvl="2" marL="1371600" rtl="0" algn="ctr">
              <a:spcBef>
                <a:spcPts val="0"/>
              </a:spcBef>
              <a:spcAft>
                <a:spcPts val="0"/>
              </a:spcAft>
              <a:buSzPts val="1900"/>
              <a:buChar char="-"/>
              <a:defRPr/>
            </a:lvl3pPr>
            <a:lvl4pPr indent="-349250" lvl="3" marL="1828800" rtl="0" algn="ctr">
              <a:spcBef>
                <a:spcPts val="0"/>
              </a:spcBef>
              <a:spcAft>
                <a:spcPts val="0"/>
              </a:spcAft>
              <a:buSzPts val="1900"/>
              <a:buChar char="ᐧ"/>
              <a:defRPr/>
            </a:lvl4pPr>
            <a:lvl5pPr indent="-349250" lvl="4" marL="22860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rtl="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rtl="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rtl="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1067279" y="273844"/>
            <a:ext cx="7448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1067279" y="1369219"/>
            <a:ext cx="7448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﹣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ᐧ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1067279" y="4767263"/>
            <a:ext cx="1618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575"/>
            <a:ext cx="394500" cy="5143500"/>
          </a:xfrm>
          <a:prstGeom prst="rtTriangl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824451" y="4570800"/>
            <a:ext cx="131955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Open Sans Light"/>
              <a:buNone/>
              <a:defRPr sz="36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746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2300"/>
              <a:buFont typeface="Open Sans"/>
              <a:buChar char="−"/>
              <a:defRPr sz="23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﹣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-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92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ᐧ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92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○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■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●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○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020"/>
              </a:buClr>
              <a:buSzPts val="1900"/>
              <a:buFont typeface="Open Sans"/>
              <a:buChar char="■"/>
              <a:defRPr sz="1900">
                <a:solidFill>
                  <a:srgbClr val="20202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5730949" y="4663225"/>
            <a:ext cx="2200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LUCAS</a:t>
            </a:r>
            <a:endParaRPr sz="9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SILVA</a:t>
            </a:r>
            <a:endParaRPr sz="9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34343"/>
                </a:solidFill>
                <a:latin typeface="Raleway Black"/>
                <a:ea typeface="Raleway Black"/>
                <a:cs typeface="Raleway Black"/>
                <a:sym typeface="Raleway Black"/>
              </a:rPr>
              <a:t>FIGUEIREDO</a:t>
            </a:r>
            <a:endParaRPr sz="900">
              <a:solidFill>
                <a:srgbClr val="434343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brasil.un.org/pt-br/sdg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www.linkedin.com/pulse/hipster-hacker-e-hustler-forme-equipe-perfeita-para-sua-nones-1e/?originalSubdomain=pt" TargetMode="External"/><Relationship Id="rId5" Type="http://schemas.openxmlformats.org/officeDocument/2006/relationships/hyperlink" Target="https://abstartups.com.br/hipster-hacker-e-hustler-o-mvp-da-sua-equipe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-proprofs-com.translate.goog/quiz-school/story.php?title=are-you-a-hipster-hacker-or-hustler&amp;_x_tr_sl=auto&amp;_x_tr_tl=pt&amp;_x_tr_hl=pt-BR&amp;_x_tr_pto=wapp" TargetMode="External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ctrTitle"/>
          </p:nvPr>
        </p:nvSpPr>
        <p:spPr>
          <a:xfrm>
            <a:off x="572258" y="1130675"/>
            <a:ext cx="8259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Interdisciplinar 1 (</a:t>
            </a:r>
            <a:r>
              <a:rPr b="1" lang="en">
                <a:latin typeface="Open Sans"/>
                <a:ea typeface="Open Sans"/>
                <a:cs typeface="Open Sans"/>
                <a:sym typeface="Open Sans"/>
              </a:rPr>
              <a:t>PI1</a:t>
            </a:r>
            <a:r>
              <a:rPr lang="en"/>
              <a:t>)</a:t>
            </a:r>
            <a:endParaRPr/>
          </a:p>
        </p:txBody>
      </p:sp>
      <p:sp>
        <p:nvSpPr>
          <p:cNvPr id="80" name="Google Shape;80;p18"/>
          <p:cNvSpPr txBox="1"/>
          <p:nvPr>
            <p:ph idx="1" type="subTitle"/>
          </p:nvPr>
        </p:nvSpPr>
        <p:spPr>
          <a:xfrm>
            <a:off x="572250" y="3220225"/>
            <a:ext cx="8259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Aula 1 - </a:t>
            </a:r>
            <a:br>
              <a:rPr lang="en"/>
            </a:br>
            <a:r>
              <a:rPr lang="en"/>
              <a:t>Abertura da Disciplina, Introdução à Design Thinking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sustentáveis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25" y="75551"/>
            <a:ext cx="6709849" cy="449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0"/>
          <p:cNvSpPr txBox="1"/>
          <p:nvPr/>
        </p:nvSpPr>
        <p:spPr>
          <a:xfrm>
            <a:off x="295900" y="4567275"/>
            <a:ext cx="6308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Objetivos de Desenvolvimento Sustentável | As Nações Unidas no Brasil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esign thinking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Thinking</a:t>
            </a:r>
            <a:endParaRPr/>
          </a:p>
        </p:txBody>
      </p:sp>
      <p:pic>
        <p:nvPicPr>
          <p:cNvPr descr="https://lh5.googleusercontent.com/9MpkXfzszwIQLt-Yogu5r3QjS2rNGjJQU081PugXPlwANzNdDOfQ2XHvWSQXAVfzhj-hQyoTHwaKohBBZI9QVixb8kTNTOHJsrxHWP5k44of3Q0ixhhUI7YcAvVnYDhSr26OOlD2" id="102" name="Google Shape;1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246800"/>
            <a:ext cx="8520599" cy="3113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perfis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Perfis</a:t>
            </a:r>
            <a:endParaRPr/>
          </a:p>
        </p:txBody>
      </p:sp>
      <p:pic>
        <p:nvPicPr>
          <p:cNvPr id="113" name="Google Shape;1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250" y="1140775"/>
            <a:ext cx="3723500" cy="34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4"/>
          <p:cNvSpPr txBox="1"/>
          <p:nvPr/>
        </p:nvSpPr>
        <p:spPr>
          <a:xfrm>
            <a:off x="1968150" y="4568875"/>
            <a:ext cx="520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(99+) Hipster, hacker e hustler: forme a equipe perfeita para sua startup | LinkedIn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5" name="Google Shape;115;p24"/>
          <p:cNvSpPr txBox="1"/>
          <p:nvPr/>
        </p:nvSpPr>
        <p:spPr>
          <a:xfrm>
            <a:off x="2519700" y="4835700"/>
            <a:ext cx="410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5"/>
              </a:rPr>
              <a:t>Hipster, hacker e hustler: O MVP da sua equipe - Abstartups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Teste</a:t>
            </a:r>
            <a:endParaRPr/>
          </a:p>
        </p:txBody>
      </p:sp>
      <p:sp>
        <p:nvSpPr>
          <p:cNvPr id="121" name="Google Shape;121;p25"/>
          <p:cNvSpPr txBox="1"/>
          <p:nvPr/>
        </p:nvSpPr>
        <p:spPr>
          <a:xfrm>
            <a:off x="311700" y="4641400"/>
            <a:ext cx="6969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Quiz: Are You Really A Hipster, A Hacker Or A Hustler? - ProProfs Quiz (www-proprofs-com.translate.goog)</a:t>
            </a:r>
            <a:endParaRPr/>
          </a:p>
        </p:txBody>
      </p:sp>
      <p:pic>
        <p:nvPicPr>
          <p:cNvPr id="122" name="Google Shape;122;p25"/>
          <p:cNvPicPr preferRelativeResize="0"/>
          <p:nvPr/>
        </p:nvPicPr>
        <p:blipFill rotWithShape="1">
          <a:blip r:embed="rId4">
            <a:alphaModFix/>
          </a:blip>
          <a:srcRect b="28856" l="0" r="0" t="0"/>
          <a:stretch/>
        </p:blipFill>
        <p:spPr>
          <a:xfrm>
            <a:off x="311700" y="1152475"/>
            <a:ext cx="3595649" cy="294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5"/>
          <p:cNvSpPr/>
          <p:nvPr/>
        </p:nvSpPr>
        <p:spPr>
          <a:xfrm>
            <a:off x="4351700" y="2414025"/>
            <a:ext cx="2057700" cy="1776900"/>
          </a:xfrm>
          <a:prstGeom prst="wedgeRectCallout">
            <a:avLst>
              <a:gd fmla="val -33420" name="adj1"/>
              <a:gd fmla="val 76799" name="adj2"/>
            </a:avLst>
          </a:prstGeom>
          <a:solidFill>
            <a:srgbClr val="FFD96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aleway"/>
                <a:ea typeface="Raleway"/>
                <a:cs typeface="Raleway"/>
                <a:sym typeface="Raleway"/>
              </a:rPr>
              <a:t>ATENÇÃO!</a:t>
            </a:r>
            <a:br>
              <a:rPr lang="en">
                <a:latin typeface="Raleway"/>
                <a:ea typeface="Raleway"/>
                <a:cs typeface="Raleway"/>
                <a:sym typeface="Raleway"/>
              </a:rPr>
            </a:br>
            <a:r>
              <a:rPr lang="en">
                <a:latin typeface="Raleway"/>
                <a:ea typeface="Raleway"/>
                <a:cs typeface="Raleway"/>
                <a:sym typeface="Raleway"/>
              </a:rPr>
              <a:t>Esta é uma tradução automática utilizando o tradutor do Google. Talvez alguns termos deste teste estejam incorretos.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Atividade: Montagem de Equipes</a:t>
            </a:r>
            <a:endParaRPr/>
          </a:p>
        </p:txBody>
      </p:sp>
      <p:pic>
        <p:nvPicPr>
          <p:cNvPr id="129" name="Google Shape;12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250" y="1140775"/>
            <a:ext cx="3723500" cy="34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6"/>
          <p:cNvSpPr txBox="1"/>
          <p:nvPr/>
        </p:nvSpPr>
        <p:spPr>
          <a:xfrm>
            <a:off x="2652250" y="1140775"/>
            <a:ext cx="50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Raleway"/>
                <a:ea typeface="Raleway"/>
                <a:cs typeface="Raleway"/>
                <a:sym typeface="Raleway"/>
              </a:rPr>
              <a:t>1</a:t>
            </a:r>
            <a:endParaRPr b="1" sz="2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26"/>
          <p:cNvSpPr txBox="1"/>
          <p:nvPr/>
        </p:nvSpPr>
        <p:spPr>
          <a:xfrm>
            <a:off x="6315125" y="1848775"/>
            <a:ext cx="50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Raleway"/>
                <a:ea typeface="Raleway"/>
                <a:cs typeface="Raleway"/>
                <a:sym typeface="Raleway"/>
              </a:rPr>
              <a:t>1</a:t>
            </a:r>
            <a:endParaRPr b="1" sz="2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5098450" y="4171450"/>
            <a:ext cx="5022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Raleway"/>
                <a:ea typeface="Raleway"/>
                <a:cs typeface="Raleway"/>
                <a:sym typeface="Raleway"/>
              </a:rPr>
              <a:t>1</a:t>
            </a:r>
            <a:endParaRPr b="1" sz="2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7209925" y="1140775"/>
            <a:ext cx="1686600" cy="12468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Raleway"/>
                <a:ea typeface="Raleway"/>
                <a:cs typeface="Raleway"/>
                <a:sym typeface="Raleway"/>
              </a:rPr>
              <a:t>+</a:t>
            </a:r>
            <a:r>
              <a:rPr b="1" lang="en" sz="2300">
                <a:latin typeface="Raleway"/>
                <a:ea typeface="Raleway"/>
                <a:cs typeface="Raleway"/>
                <a:sym typeface="Raleway"/>
              </a:rPr>
              <a:t>1 de Qualquer Perfil</a:t>
            </a:r>
            <a:endParaRPr b="1" sz="2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" name="Google Shape;134;p26"/>
          <p:cNvSpPr txBox="1"/>
          <p:nvPr/>
        </p:nvSpPr>
        <p:spPr>
          <a:xfrm>
            <a:off x="311700" y="1140775"/>
            <a:ext cx="1802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Raleway"/>
                <a:ea typeface="Raleway"/>
                <a:cs typeface="Raleway"/>
                <a:sym typeface="Raleway"/>
              </a:rPr>
              <a:t>4 </a:t>
            </a:r>
            <a:r>
              <a:rPr lang="en" sz="2300">
                <a:latin typeface="Raleway"/>
                <a:ea typeface="Raleway"/>
                <a:cs typeface="Raleway"/>
                <a:sym typeface="Raleway"/>
              </a:rPr>
              <a:t>membros</a:t>
            </a:r>
            <a:endParaRPr sz="23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5" name="Google Shape;135;p26"/>
          <p:cNvSpPr txBox="1"/>
          <p:nvPr/>
        </p:nvSpPr>
        <p:spPr>
          <a:xfrm>
            <a:off x="311700" y="1679575"/>
            <a:ext cx="2089500" cy="2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até a próxima aula</a:t>
            </a:r>
            <a:endParaRPr sz="16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se não tiverem definido até lá então eu vou escolher as equipes</a:t>
            </a:r>
            <a:endParaRPr sz="16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rgbClr val="666666"/>
                </a:solidFill>
                <a:latin typeface="Raleway"/>
                <a:ea typeface="Raleway"/>
                <a:cs typeface="Raleway"/>
                <a:sym typeface="Raleway"/>
              </a:rPr>
              <a:t>5º membro pode ser adicionado depois por mim</a:t>
            </a:r>
            <a:endParaRPr sz="1600">
              <a:solidFill>
                <a:srgbClr val="666666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funcionamento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105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Funcionamento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579200"/>
            <a:ext cx="8520600" cy="42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Comunicação: </a:t>
            </a:r>
            <a:endParaRPr/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−"/>
            </a:pPr>
            <a:r>
              <a:rPr lang="en"/>
              <a:t>Grupo no aplicativo Telegram</a:t>
            </a:r>
            <a:endParaRPr/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−"/>
            </a:pPr>
            <a:r>
              <a:rPr lang="en"/>
              <a:t>Contatos diretos em casos de urgência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Aulas e Materiais: </a:t>
            </a:r>
            <a:endParaRPr/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−"/>
            </a:pPr>
            <a:r>
              <a:rPr lang="en"/>
              <a:t>Classroom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Formato de Avaliação:</a:t>
            </a:r>
            <a:endParaRPr/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−"/>
            </a:pPr>
            <a:r>
              <a:rPr lang="en"/>
              <a:t>1VA e 2VA serão referentes ao projeto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˗"/>
            </a:pPr>
            <a:r>
              <a:rPr b="1" lang="en"/>
              <a:t>Projeto realizado em equipe</a:t>
            </a:r>
            <a:r>
              <a:rPr lang="en"/>
              <a:t> com foco na resolução de problemas a partir de uma lógica interdisciplinar. </a:t>
            </a:r>
            <a:endParaRPr/>
          </a:p>
          <a:p>
            <a:pPr indent="-3040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˗"/>
            </a:pPr>
            <a:r>
              <a:rPr b="1" lang="en"/>
              <a:t>50% da nota do projeto</a:t>
            </a:r>
            <a:r>
              <a:rPr lang="en"/>
              <a:t> será destinada à </a:t>
            </a:r>
            <a:r>
              <a:rPr b="1" lang="en"/>
              <a:t>avaliação por pares</a:t>
            </a:r>
            <a:endParaRPr b="1"/>
          </a:p>
          <a:p>
            <a:pPr indent="-304006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Para cada atividade a equipe também votará (de forma individual e anônima) </a:t>
            </a:r>
            <a:endParaRPr/>
          </a:p>
          <a:p>
            <a:pPr indent="-304006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ᐧ"/>
            </a:pPr>
            <a:r>
              <a:rPr lang="en"/>
              <a:t>qual pessoa teve maior contribuição (que receberá um prêmio ao final da disciplina)</a:t>
            </a:r>
            <a:endParaRPr/>
          </a:p>
          <a:p>
            <a:pPr indent="-304006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ᐧ"/>
            </a:pPr>
            <a:r>
              <a:rPr lang="en"/>
              <a:t>qual pessoa teve a menor contribuição (que receberá o </a:t>
            </a:r>
            <a:r>
              <a:rPr i="1" lang="en"/>
              <a:t>feedback</a:t>
            </a:r>
            <a:r>
              <a:rPr lang="en"/>
              <a:t> direto do professor ao final da disciplina)</a:t>
            </a:r>
            <a:endParaRPr/>
          </a:p>
          <a:p>
            <a:pPr indent="-304006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ᐧ"/>
            </a:pPr>
            <a:r>
              <a:rPr lang="en"/>
              <a:t>esta mecânica não terá impacto na nota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988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−"/>
            </a:pPr>
            <a:r>
              <a:rPr lang="en"/>
              <a:t>3VA e final serão provas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</a:t>
            </a:r>
            <a:endParaRPr/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5839200" cy="3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Livro</a:t>
            </a:r>
            <a:r>
              <a:rPr b="1" lang="en" sz="1700"/>
              <a:t>: 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Jake Knapp, John Zeratsky, Braden Kowitz. SPRINT: o método usado no Google para testar e aplicar novas ideias em apenas cinco dias. 1a. Intrínseca. 2017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/>
              <a:t>Ferramentas: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(Streamyard ou OBS) + Youtube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Plataformas de Mockup</a:t>
            </a:r>
            <a:br>
              <a:rPr lang="en" sz="1700"/>
            </a:br>
            <a:r>
              <a:rPr lang="en" sz="1700"/>
              <a:t>	</a:t>
            </a:r>
            <a:r>
              <a:rPr lang="en" sz="1700"/>
              <a:t>Figma, </a:t>
            </a:r>
            <a:r>
              <a:rPr lang="en" sz="1700"/>
              <a:t>Miro, Marvel, …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Android/iOS/Web*</a:t>
            </a:r>
            <a:endParaRPr sz="1700"/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775" y="227475"/>
            <a:ext cx="2675601" cy="4135375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r="5400000" dist="2857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cas - UABJ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