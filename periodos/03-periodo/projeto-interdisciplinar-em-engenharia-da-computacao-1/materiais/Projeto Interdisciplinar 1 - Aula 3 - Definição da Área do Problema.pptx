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aleway Black"/>
      <p:bold r:id="rId29"/>
      <p:boldItalic r:id="rId30"/>
    </p:embeddedFont>
    <p:embeddedFont>
      <p:font typeface="Shadows Into Light"/>
      <p:regular r:id="rId31"/>
    </p:embeddedFont>
    <p:embeddedFont>
      <p:font typeface="Open Sans Light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48BACE-4D27-4121-9BDC-27DD533C18B9}">
  <a:tblStyle styleId="{5848BACE-4D27-4121-9BDC-27DD533C18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hadowsIntoLight-regular.fntdata"/><Relationship Id="rId30" Type="http://schemas.openxmlformats.org/officeDocument/2006/relationships/font" Target="fonts/RalewayBlack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Light-bold.fntdata"/><Relationship Id="rId10" Type="http://schemas.openxmlformats.org/officeDocument/2006/relationships/slide" Target="slides/slide4.xml"/><Relationship Id="rId32" Type="http://schemas.openxmlformats.org/officeDocument/2006/relationships/font" Target="fonts/OpenSansLight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Light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dc6c180720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dc6c180720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7acc05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157acc05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7d99aa97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117d99aa97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17d99aa972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117d99aa972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7d99aa972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117d99aa972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dc6c180720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dc6c180720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5945f57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5945f57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37c6db7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37c6db7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dc6c180720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dc6c180720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c6c180720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dc6c180720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57acc057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57acc057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7d99aa97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7d99aa97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a4526e8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a4526e8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7d99aa972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17d99aa972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7d99aa97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7d99aa97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69a3a57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69a3a57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ee2311a9a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ee2311a9a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24451" y="4570800"/>
            <a:ext cx="13195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5730949" y="4663225"/>
            <a:ext cx="22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LUCAS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SILVA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FIGUEIREDO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600"/>
              <a:buNone/>
              <a:defRPr sz="4600">
                <a:solidFill>
                  <a:srgbClr val="6666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˗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Font typeface="Shadows Into Light"/>
              <a:buChar char="−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﹣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-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ᐧ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●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67279" y="273844"/>
            <a:ext cx="7448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1067279" y="1369219"/>
            <a:ext cx="7448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﹣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ᐧ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1067279" y="4767263"/>
            <a:ext cx="1618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300"/>
              <a:buFont typeface="Open Sans"/>
              <a:buChar char="−"/>
              <a:defRPr sz="2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﹣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-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ᐧ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●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hyperlink" Target="https://www.youtube.com/watch?v=Q5MDq4zidB8&amp;ab_channel=GustavoCoutoNot%C3%A1ve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brasil.un.org/pt-br/sdg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Interdisciplinar 1 (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PI1</a:t>
            </a:r>
            <a:r>
              <a:rPr lang="en"/>
              <a:t>)</a:t>
            </a:r>
            <a:endParaRPr/>
          </a:p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Definição da Área do Problema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</a:t>
            </a:r>
            <a:endParaRPr/>
          </a:p>
        </p:txBody>
      </p:sp>
      <p:pic>
        <p:nvPicPr>
          <p:cNvPr descr="https://lh5.googleusercontent.com/9MpkXfzszwIQLt-Yogu5r3QjS2rNGjJQU081PugXPlwANzNdDOfQ2XHvWSQXAVfzhj-hQyoTHwaKohBBZI9QVixb8kTNTOHJsrxHWP5k44of3Q0ixhhUI7YcAvVnYDhSr26OOlD2" id="90" name="Google Shape;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46800"/>
            <a:ext cx="8520599" cy="311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800459" y="205383"/>
            <a:ext cx="5586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Century Gothic"/>
              <a:buNone/>
            </a:pPr>
            <a:r>
              <a:rPr lang="en"/>
              <a:t>Comparativo de Metodologias</a:t>
            </a:r>
            <a:endParaRPr/>
          </a:p>
        </p:txBody>
      </p:sp>
      <p:pic>
        <p:nvPicPr>
          <p:cNvPr descr="http://plangle.io/wp-content/uploads/2015/01/blog_graphic_03.jpg" id="96" name="Google Shape;9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96" y="1426882"/>
            <a:ext cx="8352300" cy="10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1067279" y="273844"/>
            <a:ext cx="7448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Gothic"/>
              <a:buNone/>
            </a:pPr>
            <a:r>
              <a:rPr lang="en"/>
              <a:t>Kanban</a:t>
            </a:r>
            <a:endParaRPr/>
          </a:p>
        </p:txBody>
      </p:sp>
      <p:pic>
        <p:nvPicPr>
          <p:cNvPr descr="https://d2t79q9g75enw7.cloudfront.net/wp-content/uploads/2016/10/kanban-board.png" id="102" name="Google Shape;102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932" y="1245404"/>
            <a:ext cx="6098100" cy="35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upload.wikimedia.org/wikipedia/commons/thumb/5/58/Scrum_process.svg/1000px-Scrum_process.svg.png" id="107" name="Google Shape;10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50" y="527725"/>
            <a:ext cx="8175900" cy="40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de hoje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</a:t>
            </a:r>
            <a:br>
              <a:rPr lang="en"/>
            </a:br>
            <a:r>
              <a:rPr lang="en"/>
              <a:t>na prática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IDEO - Carrinho de Compras</a:t>
            </a:r>
            <a:endParaRPr/>
          </a:p>
        </p:txBody>
      </p:sp>
      <p:pic>
        <p:nvPicPr>
          <p:cNvPr descr="Image result for ideo shopping cart" id="123" name="Google Shape;1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7275" y="1152487"/>
            <a:ext cx="4071379" cy="325712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/>
          <p:nvPr/>
        </p:nvSpPr>
        <p:spPr>
          <a:xfrm>
            <a:off x="4377275" y="4394812"/>
            <a:ext cx="407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IDEO Cart Project - em Português (Video Longo Carrinho de Supermercado) - YouTube</a:t>
            </a:r>
            <a:endParaRPr sz="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311700" y="1152475"/>
            <a:ext cx="360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Desenvolver a habilidade de resolver problemas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Gerar impacto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Foco no usuário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de </a:t>
            </a:r>
            <a:br>
              <a:rPr lang="en"/>
            </a:br>
            <a:r>
              <a:rPr lang="en"/>
              <a:t>desenvolvimento </a:t>
            </a:r>
            <a:br>
              <a:rPr lang="en"/>
            </a:br>
            <a:r>
              <a:rPr lang="en"/>
              <a:t>sustentável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atividade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00" y="1"/>
            <a:ext cx="6709849" cy="449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295900" y="4567275"/>
            <a:ext cx="630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Objetivos de Desenvolvimento Sustentável | As Nações Unidas no Brasil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roteiro (parte 1)</a:t>
            </a:r>
            <a:endParaRPr/>
          </a:p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nalisem todos os temas</a:t>
            </a:r>
            <a:r>
              <a:rPr lang="en"/>
              <a:t> elencados pela ONU, passando de um por um e conversando brevemente sobre eles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</a:t>
            </a:r>
            <a:r>
              <a:rPr b="1" lang="en"/>
              <a:t>efinam de 3 a 5 áreas</a:t>
            </a:r>
            <a:r>
              <a:rPr lang="en"/>
              <a:t> que vocês, como equipe, tem interesse em atuar e contribuir para o desenvolvimento sustentável dela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</a:t>
            </a:r>
            <a:r>
              <a:rPr b="1" lang="en"/>
              <a:t>elecionem</a:t>
            </a:r>
            <a:r>
              <a:rPr b="1" lang="en"/>
              <a:t> a área</a:t>
            </a:r>
            <a:r>
              <a:rPr lang="en"/>
              <a:t> principal usando a técnica de seleção explicada a seguir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idx="4294967295" type="title"/>
          </p:nvPr>
        </p:nvSpPr>
        <p:spPr>
          <a:xfrm>
            <a:off x="364675" y="4262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Critérios</a:t>
            </a:r>
            <a:endParaRPr/>
          </a:p>
        </p:txBody>
      </p:sp>
      <p:sp>
        <p:nvSpPr>
          <p:cNvPr id="153" name="Google Shape;153;p31"/>
          <p:cNvSpPr/>
          <p:nvPr/>
        </p:nvSpPr>
        <p:spPr>
          <a:xfrm>
            <a:off x="364663" y="-104586"/>
            <a:ext cx="1873200" cy="1873200"/>
          </a:xfrm>
          <a:prstGeom prst="ellipse">
            <a:avLst/>
          </a:prstGeom>
          <a:solidFill>
            <a:srgbClr val="B723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Impacto</a:t>
            </a:r>
            <a:endParaRPr sz="17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4725654" y="-104592"/>
            <a:ext cx="1873200" cy="1873200"/>
          </a:xfrm>
          <a:prstGeom prst="ellipse">
            <a:avLst/>
          </a:prstGeom>
          <a:solidFill>
            <a:srgbClr val="DC351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Motivação</a:t>
            </a:r>
            <a:endParaRPr sz="17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2545158" y="-104590"/>
            <a:ext cx="1873200" cy="1873200"/>
          </a:xfrm>
          <a:prstGeom prst="ellipse">
            <a:avLst/>
          </a:prstGeom>
          <a:solidFill>
            <a:srgbClr val="09CF5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Match</a:t>
            </a:r>
            <a:endParaRPr sz="17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6906149" y="-104592"/>
            <a:ext cx="1873200" cy="1873200"/>
          </a:xfrm>
          <a:prstGeom prst="ellipse">
            <a:avLst/>
          </a:prstGeom>
          <a:solidFill>
            <a:srgbClr val="007DE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Viabilidade</a:t>
            </a:r>
            <a:endParaRPr sz="17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364675" y="1952100"/>
            <a:ext cx="18732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22082"/>
                </a:solidFill>
                <a:latin typeface="Raleway"/>
                <a:ea typeface="Raleway"/>
                <a:cs typeface="Raleway"/>
                <a:sym typeface="Raleway"/>
              </a:rPr>
              <a:t>Potencial de futuro, espaço de inovação nessa área</a:t>
            </a:r>
            <a:endParaRPr sz="1500">
              <a:solidFill>
                <a:srgbClr val="62208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31"/>
          <p:cNvSpPr txBox="1"/>
          <p:nvPr/>
        </p:nvSpPr>
        <p:spPr>
          <a:xfrm>
            <a:off x="2545150" y="1952100"/>
            <a:ext cx="18732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9A159"/>
                </a:solidFill>
                <a:latin typeface="Raleway"/>
                <a:ea typeface="Raleway"/>
                <a:cs typeface="Raleway"/>
                <a:sym typeface="Raleway"/>
              </a:rPr>
              <a:t>Capacidade de contribuir com inovações nessa área</a:t>
            </a:r>
            <a:endParaRPr sz="1500">
              <a:solidFill>
                <a:srgbClr val="09A1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9" name="Google Shape;159;p31"/>
          <p:cNvSpPr txBox="1"/>
          <p:nvPr/>
        </p:nvSpPr>
        <p:spPr>
          <a:xfrm>
            <a:off x="4725625" y="1952100"/>
            <a:ext cx="18732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5200C"/>
                </a:solidFill>
                <a:latin typeface="Raleway"/>
                <a:ea typeface="Raleway"/>
                <a:cs typeface="Raleway"/>
                <a:sym typeface="Raleway"/>
              </a:rPr>
              <a:t>Interesse pessoal em inovar nessa área</a:t>
            </a:r>
            <a:endParaRPr sz="1500">
              <a:solidFill>
                <a:srgbClr val="8520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6906100" y="1952100"/>
            <a:ext cx="18732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781E0"/>
                </a:solidFill>
                <a:latin typeface="Raleway"/>
                <a:ea typeface="Raleway"/>
                <a:cs typeface="Raleway"/>
                <a:sym typeface="Raleway"/>
              </a:rPr>
              <a:t>Visão sobre investimentos e possíveis parcerias para garantir a sustentabilidade do projeto</a:t>
            </a:r>
            <a:endParaRPr sz="1500">
              <a:solidFill>
                <a:srgbClr val="0781E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32"/>
          <p:cNvGraphicFramePr/>
          <p:nvPr/>
        </p:nvGraphicFramePr>
        <p:xfrm>
          <a:off x="916603" y="17168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{5848BACE-4D27-4121-9BDC-27DD533C18B9}</a:tableStyleId>
              </a:tblPr>
              <a:tblGrid>
                <a:gridCol w="1638575"/>
                <a:gridCol w="886925"/>
                <a:gridCol w="1614550"/>
                <a:gridCol w="1250700"/>
                <a:gridCol w="1250700"/>
                <a:gridCol w="1250700"/>
              </a:tblGrid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peso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Área </a:t>
                      </a: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Área</a:t>
                      </a: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</a:t>
                      </a: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Área</a:t>
                      </a: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3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Área</a:t>
                      </a: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4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Impacto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solidFill>
                            <a:srgbClr val="26262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sz="2100" u="none" cap="none" strike="noStrike">
                        <a:solidFill>
                          <a:srgbClr val="26262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entury Gothic"/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100"/>
                        <a:buFont typeface="Century Gothic"/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Match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2100"/>
                        <a:buFont typeface="Century Gothic"/>
                        <a:buNone/>
                      </a:pPr>
                      <a:r>
                        <a:rPr lang="en" sz="2100" u="none" cap="none" strike="noStrike">
                          <a:solidFill>
                            <a:srgbClr val="26262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solidFill>
                          <a:srgbClr val="26262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entury Gothic"/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entury Gothic"/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entury Gothic"/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Motivação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solidFill>
                            <a:srgbClr val="26262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sz="2100" u="none" cap="none" strike="noStrike">
                        <a:solidFill>
                          <a:srgbClr val="26262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Viabilidade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262626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solidFill>
                          <a:srgbClr val="26262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</a:t>
                      </a:r>
                      <a:endParaRPr sz="21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6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 u="none" cap="none" strike="noStrike">
                        <a:solidFill>
                          <a:srgbClr val="262626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Total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none" cap="none" strike="noStrike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r>
                        <a:rPr b="1"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3</a:t>
                      </a:r>
                      <a:endParaRPr b="1"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21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21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lt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19</a:t>
                      </a:r>
                      <a:endParaRPr sz="2100" u="none" cap="none" strike="noStrike">
                        <a:solidFill>
                          <a:schemeClr val="lt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32"/>
          <p:cNvSpPr txBox="1"/>
          <p:nvPr>
            <p:ph type="title"/>
          </p:nvPr>
        </p:nvSpPr>
        <p:spPr>
          <a:xfrm>
            <a:off x="800459" y="205383"/>
            <a:ext cx="5586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Gothic"/>
              <a:buNone/>
            </a:pPr>
            <a:r>
              <a:rPr lang="en"/>
              <a:t>Matriz Ponderada</a:t>
            </a:r>
            <a:endParaRPr/>
          </a:p>
        </p:txBody>
      </p:sp>
      <p:sp>
        <p:nvSpPr>
          <p:cNvPr id="167" name="Google Shape;167;p32"/>
          <p:cNvSpPr/>
          <p:nvPr/>
        </p:nvSpPr>
        <p:spPr>
          <a:xfrm>
            <a:off x="4075943" y="3851601"/>
            <a:ext cx="384900" cy="384900"/>
          </a:xfrm>
          <a:prstGeom prst="ellipse">
            <a:avLst/>
          </a:prstGeom>
          <a:noFill/>
          <a:ln cap="flat" cmpd="sng" w="762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oteiro (parte 2)</a:t>
            </a:r>
            <a:endParaRPr/>
          </a:p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profundem o entendimento</a:t>
            </a:r>
            <a:r>
              <a:rPr lang="en"/>
              <a:t> da área através de pesquisas online.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</a:t>
            </a:r>
            <a:r>
              <a:rPr b="1" lang="en"/>
              <a:t>reparem uma apresentação</a:t>
            </a:r>
            <a:r>
              <a:rPr lang="en"/>
              <a:t> para o início da próxima aula. Esta apresentação configura a primeira atividade (de cinco atividades) da 1VA:</a:t>
            </a:r>
            <a:endParaRPr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A área</a:t>
            </a:r>
            <a:r>
              <a:rPr lang="en" sz="1600"/>
              <a:t> selecionada, apresentando a matriz ponderada de seleção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A definição</a:t>
            </a:r>
            <a:r>
              <a:rPr lang="en" sz="1600"/>
              <a:t> da área, quais são as características únicas dela se comparada às demais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Pelo menos 3 notícias</a:t>
            </a:r>
            <a:r>
              <a:rPr lang="en" sz="1600"/>
              <a:t> com evidências de problemas nesta área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Como esta área se desenvolvendo</a:t>
            </a:r>
            <a:r>
              <a:rPr lang="en" sz="1600"/>
              <a:t> (ou não se desenvolve) em uma região de interesse em que sua equipe deseja atuar (pode ser um bairro, cidade, estado, região, etc)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Potenciais pessoas </a:t>
            </a:r>
            <a:r>
              <a:rPr lang="en" sz="1600"/>
              <a:t>que podem ajudar a entender da área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Quadros Kanban</a:t>
            </a:r>
            <a:endParaRPr/>
          </a:p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equipe terá </a:t>
            </a:r>
            <a:r>
              <a:rPr b="1" lang="en"/>
              <a:t>1 ponto extra na 1VA </a:t>
            </a:r>
            <a:r>
              <a:rPr lang="en"/>
              <a:t>caso envie </a:t>
            </a:r>
            <a:br>
              <a:rPr lang="en"/>
            </a:br>
            <a:r>
              <a:rPr lang="en"/>
              <a:t>	3 quadros Kanban para cada atividade </a:t>
            </a:r>
            <a:br>
              <a:rPr lang="en"/>
            </a:br>
            <a:r>
              <a:rPr lang="en"/>
              <a:t>		1 no começo da semana, </a:t>
            </a:r>
            <a:br>
              <a:rPr lang="en"/>
            </a:br>
            <a:r>
              <a:rPr lang="en"/>
              <a:t>		1 no meio e </a:t>
            </a:r>
            <a:br>
              <a:rPr lang="en"/>
            </a:br>
            <a:r>
              <a:rPr lang="en"/>
              <a:t>		1 no final.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</a:t>
            </a:r>
            <a:endParaRPr/>
          </a:p>
        </p:txBody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311700" y="1152475"/>
            <a:ext cx="58392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Jake Knapp, John Zeratsky, Braden Kowitz. SPRINT: o método usado no Google para testar e aplicar novas ideias em apenas cinco dias. 1a. Intrínseca. 2017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Kanban: David J. Anderson, Andy Carmichael, Essential Kanban Condensed, , 2016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Ferramentas: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Plataformas de Mockup</a:t>
            </a:r>
            <a:br>
              <a:rPr lang="en" sz="1700"/>
            </a:br>
            <a:r>
              <a:rPr lang="en" sz="1700"/>
              <a:t>	Miro, Figma, Marvel, Google Slides…</a:t>
            </a:r>
            <a:endParaRPr sz="1700"/>
          </a:p>
        </p:txBody>
      </p:sp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775" y="227475"/>
            <a:ext cx="2675601" cy="4135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285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cas - UABJ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